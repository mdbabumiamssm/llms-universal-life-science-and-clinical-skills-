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[CENTERED]</a:t>
            </a:r>
          </a:p>
          <a:p>
            <a:pPr>
              <a:defRPr sz="1800"/>
            </a:pPr>
            <a:r>
              <a:t>UNIVERSAL BIOMEDICAL SKILLS</a:t>
            </a:r>
          </a:p>
          <a:p>
            <a:pPr>
              <a:defRPr sz="1800"/>
            </a:pPr>
            <a:r>
              <a:t>One Skill. Every LLM.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[Your Name]</a:t>
            </a:r>
          </a:p>
          <a:p>
            <a:pPr>
              <a:defRPr sz="1800"/>
            </a:pPr>
            <a:r>
              <a:t>[Institution/Affiliation]</a:t>
            </a:r>
          </a:p>
          <a:p>
            <a:pPr>
              <a:defRPr sz="1800"/>
            </a:pPr>
            <a:r>
              <a:t>[Date]</a:t>
            </a:r>
          </a:p>
          <a:p>
            <a:pPr>
              <a:defRPr sz="1800"/>
            </a:pPr>
            <a:r>
              <a:t>github.com/mdbabumiamssm/Universal-Life-Science-and-Clinical-Skills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[LARGE TEXT, CENTERED]</a:t>
            </a:r>
          </a:p>
          <a:p>
            <a:pPr>
              <a:defRPr sz="1800"/>
            </a:pPr>
            <a:r>
              <a:t>"What if you could write a biomedical</a:t>
            </a:r>
          </a:p>
          <a:p>
            <a:pPr>
              <a:defRPr sz="1800"/>
            </a:pPr>
            <a:r>
              <a:t>AI skill once...</a:t>
            </a:r>
          </a:p>
          <a:p>
            <a:pPr>
              <a:defRPr sz="1800"/>
            </a:pPr>
            <a:r>
              <a:t>and have it work on Claude, ChatGPT,</a:t>
            </a:r>
          </a:p>
          <a:p>
            <a:pPr>
              <a:defRPr sz="1800"/>
            </a:pPr>
            <a:r>
              <a:t>Gemini, AND your local LLM?"</a:t>
            </a:r>
          </a:p>
          <a:p>
            <a:pPr>
              <a:defRPr sz="1800"/>
            </a:pPr>
            <a:r>
              <a:t>[ICON: Multiple platform logos connected]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Importance of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WHY SKILLS MATTER IN BIOMEDICINE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 healthcare and life sciences, an AI "prompt" isn't enough.</a:t>
            </a:r>
          </a:p>
          <a:p>
            <a:pPr>
              <a:defRPr sz="1800"/>
            </a:pPr>
            <a:r>
              <a:t>We need **Robust Skills**.</a:t>
            </a:r>
          </a:p>
          <a:p>
            <a:pPr>
              <a:defRPr sz="1800"/>
            </a:pPr>
            <a:r>
              <a:t>[FOUR PILLARS OF IMPORTANCE]</a:t>
            </a:r>
          </a:p>
          <a:p>
            <a:pPr>
              <a:defRPr sz="1800"/>
            </a:pPr>
            <a:r>
              <a:t>1. REPRODUCIBILITY</a:t>
            </a:r>
          </a:p>
          <a:p>
            <a:pPr>
              <a:defRPr sz="1800"/>
            </a:pPr>
            <a:r>
              <a:t>Scientific results must be consistent, regardless of the AI model used.</a:t>
            </a:r>
          </a:p>
          <a:p>
            <a:pPr>
              <a:defRPr sz="1800"/>
            </a:pPr>
            <a:r>
              <a:t>2. SAFETY &amp; VALIDATION</a:t>
            </a:r>
          </a:p>
          <a:p>
            <a:pPr>
              <a:defRPr sz="1800"/>
            </a:pPr>
            <a:r>
              <a:t>Prevent hallucinations in critical tasks (e.g., dosage, gene targets).</a:t>
            </a:r>
          </a:p>
          <a:p>
            <a:pPr>
              <a:defRPr sz="1800"/>
            </a:pPr>
            <a:r>
              <a:t>3. STANDARDIZATION</a:t>
            </a:r>
          </a:p>
          <a:p>
            <a:pPr>
              <a:defRPr sz="1800"/>
            </a:pPr>
            <a:r>
              <a:t>A "Clinical Summary" should follow SOAP format every time.</a:t>
            </a:r>
          </a:p>
          <a:p>
            <a:pPr>
              <a:defRPr sz="1800"/>
            </a:pPr>
            <a:r>
              <a:t>4. ACCESSIBILITY</a:t>
            </a:r>
          </a:p>
          <a:p>
            <a:pPr>
              <a:defRPr sz="1800"/>
            </a:pPr>
            <a:r>
              <a:t>Democratizing advanced bioinformatics for non-coders.</a:t>
            </a:r>
          </a:p>
          <a:p>
            <a:pPr>
              <a:defRPr sz="1800"/>
            </a:pPr>
            <a:r>
              <a:t>[QUOTE] "A skill is a validated, reliable unit of work."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FRAGMENTATION PROBLEM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[VISUAL: Scattered platform logos - Claude, ChatGPT, Gemini, Llama]</a:t>
            </a:r>
          </a:p>
          <a:p>
            <a:pPr>
              <a:defRPr sz="1800"/>
            </a:pPr>
            <a:r>
              <a:t>Current Reality:</a:t>
            </a:r>
          </a:p>
          <a:p>
            <a:pPr>
              <a:defRPr sz="1800"/>
            </a:pPr>
            <a:r>
              <a:t>Each platform has different formats</a:t>
            </a:r>
          </a:p>
          <a:p>
            <a:pPr>
              <a:defRPr sz="1800"/>
            </a:pPr>
            <a:r>
              <a:t>Skills must be rewritten for each</a:t>
            </a:r>
          </a:p>
          <a:p>
            <a:pPr>
              <a:defRPr sz="1800"/>
            </a:pPr>
            <a:r>
              <a:t>Collaboration across platforms is difficult</a:t>
            </a:r>
          </a:p>
          <a:p>
            <a:pPr>
              <a:defRPr sz="1800"/>
            </a:pPr>
            <a:r>
              <a:t>Vendor lock-in limits flexibility</a:t>
            </a:r>
          </a:p>
          <a:p>
            <a:pPr>
              <a:defRPr sz="1800"/>
            </a:pPr>
            <a:r>
              <a:t>[STAT BOX]</a:t>
            </a:r>
          </a:p>
          <a:p>
            <a:pPr>
              <a:defRPr sz="1800"/>
            </a:pPr>
            <a:r>
              <a:t>73% of practitioners have rewritten skills for different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REAL COST OF FRAGMENTATION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[THREE ICONS WITH STATS]</a:t>
            </a:r>
          </a:p>
          <a:p>
            <a:pPr>
              <a:defRPr sz="1800"/>
            </a:pPr>
            <a:r>
              <a:t>[Clock Icon]              [Chain Icon]           [Wall Icon]</a:t>
            </a:r>
          </a:p>
          <a:p>
            <a:pPr>
              <a:defRPr sz="1800"/>
            </a:pPr>
            <a:r>
              <a:t>WASTED TIME              PLATFORM LOCK-IN       BROKEN COLLABORATION</a:t>
            </a:r>
          </a:p>
          <a:p>
            <a:pPr>
              <a:defRPr sz="1800"/>
            </a:pPr>
            <a:r>
              <a:t>4-8 hours to            Once built, hard         Can't share skills</a:t>
            </a:r>
          </a:p>
          <a:p>
            <a:pPr>
              <a:defRPr sz="1800"/>
            </a:pPr>
            <a:r>
              <a:t>rewrite each skill      to switch vendors        across institutions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OUR SOLUTION: UNIVERSAL BIOMEDICAL SKILLS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[ARCHITECTURE DIAGRAM]</a:t>
            </a:r>
          </a:p>
          <a:p>
            <a:pPr>
              <a:defRPr sz="1800"/>
            </a:pPr>
            <a:r>
              <a:t>┌─────────────┐</a:t>
            </a:r>
          </a:p>
          <a:p>
            <a:pPr>
              <a:defRPr sz="1800"/>
            </a:pPr>
            <a:r>
              <a:t>│    USDL     │</a:t>
            </a:r>
          </a:p>
          <a:p>
            <a:pPr>
              <a:defRPr sz="1800"/>
            </a:pPr>
            <a:r>
              <a:t>│ (One Skill) │</a:t>
            </a:r>
          </a:p>
          <a:p>
            <a:pPr>
              <a:defRPr sz="1800"/>
            </a:pPr>
            <a:r>
              <a:t>└──────┬──────┘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┌───────────────┼───────────────┐</a:t>
            </a:r>
          </a:p>
          <a:p>
            <a:pPr>
              <a:defRPr sz="1800"/>
            </a:pPr>
            <a:r>
              <a:t>▼               ▼               ▼</a:t>
            </a:r>
          </a:p>
          <a:p>
            <a:pPr>
              <a:defRPr sz="1800"/>
            </a:pPr>
            <a:r>
              <a:t>┌──────────┐    ┌──────────┐    ┌──────────┐</a:t>
            </a:r>
          </a:p>
          <a:p>
            <a:pPr>
              <a:defRPr sz="1800"/>
            </a:pPr>
            <a:r>
              <a:t>│  Claude  │    │  OpenAI  │    │  Gemini  │</a:t>
            </a:r>
          </a:p>
          <a:p>
            <a:pPr>
              <a:defRPr sz="1800"/>
            </a:pPr>
            <a:r>
              <a:t>│ Adapter  │    │ Adapter  │    │ Adapter  │</a:t>
            </a:r>
          </a:p>
          <a:p>
            <a:pPr>
              <a:defRPr sz="1800"/>
            </a:pPr>
            <a:r>
              <a:t>└──────────┘    └──────────┘    └──────────┘</a:t>
            </a:r>
          </a:p>
          <a:p>
            <a:pPr>
              <a:defRPr sz="1800"/>
            </a:pPr>
            <a:r>
              <a:t>│               │               │</a:t>
            </a:r>
          </a:p>
          <a:p>
            <a:pPr>
              <a:defRPr sz="1800"/>
            </a:pPr>
            <a:r>
              <a:t>▼               ▼               ▼</a:t>
            </a:r>
          </a:p>
          <a:p>
            <a:pPr>
              <a:defRPr sz="1800"/>
            </a:pPr>
            <a:r>
              <a:t>[Claude Logo]   [GPT Logo]     [Gemini Logo]</a:t>
            </a:r>
          </a:p>
          <a:p>
            <a:pPr>
              <a:defRPr sz="1800"/>
            </a:pPr>
            <a:r>
              <a:t>Write Once. Deploy Everywhere.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THREE KEY INNOVATIONS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[1] USDL - Universal Skill Definition Language</a:t>
            </a:r>
          </a:p>
          <a:p>
            <a:pPr>
              <a:defRPr sz="1800"/>
            </a:pPr>
            <a:r>
              <a:t>Standardized YAML schema for biomedical AI skills</a:t>
            </a:r>
          </a:p>
          <a:p>
            <a:pPr>
              <a:defRPr sz="1800"/>
            </a:pPr>
            <a:r>
              <a:t>[2] PLATFORM ADAPTERS</a:t>
            </a:r>
          </a:p>
          <a:p>
            <a:pPr>
              <a:defRPr sz="1800"/>
            </a:pPr>
            <a:r>
              <a:t>Automatic conversion to Claude, OpenAI, Gemini, local</a:t>
            </a:r>
          </a:p>
          <a:p>
            <a:pPr>
              <a:defRPr sz="1800"/>
            </a:pPr>
            <a:r>
              <a:t>[3] BIOKERNEL RUNTIME</a:t>
            </a:r>
          </a:p>
          <a:p>
            <a:pPr>
              <a:defRPr sz="1800"/>
            </a:pPr>
            <a:r>
              <a:t>Intelligent routing to optimal LLM per task</a:t>
            </a:r>
          </a:p>
          <a:p>
            <a:pPr>
              <a:defRPr sz="1800"/>
            </a:pPr>
            <a:r>
              <a:t>[BADGE: Open Source | MIT License]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LIVE DEMO PREVIEW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[SCREENSHOT: Before/After QC Plots side by side]</a:t>
            </a:r>
          </a:p>
          <a:p>
            <a:pPr>
              <a:defRPr sz="1800"/>
            </a:pPr>
            <a:r>
              <a:t>Single-Cell RNA-seq Quality Control</a:t>
            </a:r>
          </a:p>
          <a:p>
            <a:pPr>
              <a:defRPr sz="1800"/>
            </a:pPr>
            <a:r>
              <a:t>Real bone marrow data (GSE136112)</a:t>
            </a:r>
          </a:p>
          <a:p>
            <a:pPr>
              <a:defRPr sz="1800"/>
            </a:pPr>
            <a:r>
              <a:t>10,000+ cells analyzed</a:t>
            </a:r>
          </a:p>
          <a:p>
            <a:pPr>
              <a:defRPr sz="1800"/>
            </a:pPr>
            <a:r>
              <a:t>MAD-based outlier detection</a:t>
            </a:r>
          </a:p>
          <a:p>
            <a:pPr>
              <a:defRPr sz="1800"/>
            </a:pPr>
            <a:r>
              <a:t>Publication-ready visualizations</a:t>
            </a:r>
          </a:p>
          <a:p>
            <a:pPr>
              <a:defRPr sz="1800"/>
            </a:pPr>
            <a:r>
              <a:t>[ARROW] Same skill runs on Claude, GPT, Gemini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Library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SIX PRODUCTION-READY SKILLS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[THREE COLUMNS]</a:t>
            </a:r>
          </a:p>
          <a:p>
            <a:pPr>
              <a:defRPr sz="1800"/>
            </a:pPr>
            <a:r>
              <a:t>CLINICAL               GENOMICS              DRUG DISCOVERY</a:t>
            </a:r>
          </a:p>
          <a:p>
            <a:pPr>
              <a:defRPr sz="1800"/>
            </a:pPr>
            <a:r>
              <a:t>─────────             ────────              ──────────────</a:t>
            </a:r>
          </a:p>
          <a:p>
            <a:pPr>
              <a:defRPr sz="1800"/>
            </a:pPr>
            <a:r>
              <a:t>Note                • scRNA-seq           • Chemical</a:t>
            </a:r>
          </a:p>
          <a:p>
            <a:pPr>
              <a:defRPr sz="1800"/>
            </a:pPr>
            <a:r>
              <a:t>Summarization         QC                    Properties</a:t>
            </a:r>
          </a:p>
          <a:p>
            <a:pPr>
              <a:defRPr sz="1800"/>
            </a:pPr>
            <a:r>
              <a:t>Trial               • CRISPR              • AgentD</a:t>
            </a:r>
          </a:p>
          <a:p>
            <a:pPr>
              <a:defRPr sz="1800"/>
            </a:pPr>
            <a:r>
              <a:t>Eligibility           Design                Pipeline</a:t>
            </a:r>
          </a:p>
          <a:p>
            <a:pPr>
              <a:defRPr sz="1800"/>
            </a:pPr>
            <a:r>
              <a:t>[FOOTER: All skills validated across 3+ platforms]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GET STARTED TODAY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[GITHUB ICON]</a:t>
            </a:r>
          </a:p>
          <a:p>
            <a:pPr>
              <a:defRPr sz="1800"/>
            </a:pPr>
            <a:r>
              <a:t>github.com/mdbabumiamssm/Universal-Life-Science-and-Clinical-Skills-</a:t>
            </a:r>
          </a:p>
          <a:p>
            <a:pPr>
              <a:defRPr sz="1800"/>
            </a:pPr>
            <a:r>
              <a:t>[THREE STEPS]</a:t>
            </a:r>
          </a:p>
          <a:p>
            <a:pPr>
              <a:defRPr sz="1800"/>
            </a:pPr>
            <a:r>
              <a:t>1. Clone the repository</a:t>
            </a:r>
          </a:p>
          <a:p>
            <a:pPr>
              <a:defRPr sz="1800"/>
            </a:pPr>
            <a:r>
              <a:t>2. Run the demo with your data</a:t>
            </a:r>
          </a:p>
          <a:p>
            <a:pPr>
              <a:defRPr sz="1800"/>
            </a:pPr>
            <a:r>
              <a:t>3. Try skills on your preferred platform</a:t>
            </a:r>
          </a:p>
          <a:p>
            <a:pPr>
              <a:defRPr sz="1800"/>
            </a:pPr>
            <a:r>
              <a:t>[QR CODE: Repository URL]</a:t>
            </a:r>
          </a:p>
          <a:p>
            <a:pPr>
              <a:defRPr sz="1800"/>
            </a:pPr>
            <a:r>
              <a:t>Coming up: Repository Tour →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# VIDEO 2 SLIDES: GitHub Repository Tour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GITHUB REPOSITORY TOUR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Navigating the Universal Biomedical Skills Platform</a:t>
            </a:r>
          </a:p>
          <a:p>
            <a:pPr>
              <a:defRPr sz="1800"/>
            </a:pPr>
            <a:r>
              <a:t>[GITHUB ICON + FOLDER ICON]</a:t>
            </a:r>
          </a:p>
          <a:p>
            <a:pPr>
              <a:defRPr sz="1800"/>
            </a:pPr>
            <a:r>
              <a:t>Video 2 of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REPOSITORY STRUCTURE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Universal-Life-Science-and-Clinical-Skills-/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Skills/                    ← All biomedical skills</a:t>
            </a:r>
          </a:p>
          <a:p>
            <a:pPr>
              <a:defRPr sz="1800"/>
            </a:pPr>
            <a:r>
              <a:t>│   ├── Clinical/</a:t>
            </a:r>
          </a:p>
          <a:p>
            <a:pPr>
              <a:defRPr sz="1800"/>
            </a:pPr>
            <a:r>
              <a:t>│   ├── Genomics/</a:t>
            </a:r>
          </a:p>
          <a:p>
            <a:pPr>
              <a:defRPr sz="1800"/>
            </a:pPr>
            <a:r>
              <a:t>│   └── Drug_Discovery/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test_demonstration/        ← Working demo with data</a:t>
            </a:r>
          </a:p>
          <a:p>
            <a:pPr>
              <a:defRPr sz="1800"/>
            </a:pPr>
            <a:r>
              <a:t>│   ├── scRNAsedata/</a:t>
            </a:r>
          </a:p>
          <a:p>
            <a:pPr>
              <a:defRPr sz="1800"/>
            </a:pPr>
            <a:r>
              <a:t>│   └── qc_results/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platform_prototype/        ← SDK &amp; tooling</a:t>
            </a:r>
          </a:p>
          <a:p>
            <a:pPr>
              <a:defRPr sz="1800"/>
            </a:pPr>
            <a:r>
              <a:t>│   ├── adapters/</a:t>
            </a:r>
          </a:p>
          <a:p>
            <a:pPr>
              <a:defRPr sz="1800"/>
            </a:pPr>
            <a:r>
              <a:t>│   ├── biokernel/</a:t>
            </a:r>
          </a:p>
          <a:p>
            <a:pPr>
              <a:defRPr sz="1800"/>
            </a:pPr>
            <a:r>
              <a:t>│   └── schema/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└── README.md                  ← Start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Folder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SKILLS FOLDER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Skills/</a:t>
            </a:r>
          </a:p>
          <a:p>
            <a:pPr>
              <a:defRPr sz="1800"/>
            </a:pPr>
            <a:r>
              <a:t>├── Clinical/</a:t>
            </a:r>
          </a:p>
          <a:p>
            <a:pPr>
              <a:defRPr sz="1800"/>
            </a:pPr>
            <a:r>
              <a:t>│   ├── clinical_note_summarization/</a:t>
            </a:r>
          </a:p>
          <a:p>
            <a:pPr>
              <a:defRPr sz="1800"/>
            </a:pPr>
            <a:r>
              <a:t>│   └── trial_eligibility_agent/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Genomics/</a:t>
            </a:r>
          </a:p>
          <a:p>
            <a:pPr>
              <a:defRPr sz="1800"/>
            </a:pPr>
            <a:r>
              <a:t>│   ├── single_cell_qc/          ← Featured demo</a:t>
            </a:r>
          </a:p>
          <a:p>
            <a:pPr>
              <a:defRPr sz="1800"/>
            </a:pPr>
            <a:r>
              <a:t>│   └── crispr_design_agent/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└── Drug_Discovery/</a:t>
            </a:r>
          </a:p>
          <a:p>
            <a:pPr>
              <a:defRPr sz="1800"/>
            </a:pPr>
            <a:r>
              <a:t>├── chemical_property_lookup/</a:t>
            </a:r>
          </a:p>
          <a:p>
            <a:pPr>
              <a:defRPr sz="1800"/>
            </a:pPr>
            <a:r>
              <a:t>└── agentd_drug_discovery/</a:t>
            </a:r>
          </a:p>
          <a:p>
            <a:pPr>
              <a:defRPr sz="1800"/>
            </a:pPr>
            <a:r>
              <a:t>Each skill contains:</a:t>
            </a:r>
          </a:p>
          <a:p>
            <a:pPr>
              <a:defRPr sz="1800"/>
            </a:pPr>
            <a:r>
              <a:t>README.md - Documentation</a:t>
            </a:r>
          </a:p>
          <a:p>
            <a:pPr>
              <a:defRPr sz="1800"/>
            </a:pPr>
            <a:r>
              <a:t>prompt.md - AI instructions</a:t>
            </a:r>
          </a:p>
          <a:p>
            <a:pPr>
              <a:defRPr sz="1800"/>
            </a:pPr>
            <a:r>
              <a:t>.py - Implementation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TEST DEMONSTRATION FOLDER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test_demonstration/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scRNAsedata/              ← Real bone marrow samples</a:t>
            </a:r>
          </a:p>
          <a:p>
            <a:pPr>
              <a:defRPr sz="1800"/>
            </a:pPr>
            <a:r>
              <a:t>│   ├── GSM3901485/</a:t>
            </a:r>
          </a:p>
          <a:p>
            <a:pPr>
              <a:defRPr sz="1800"/>
            </a:pPr>
            <a:r>
              <a:t>│   ├── GSM3901486/</a:t>
            </a:r>
          </a:p>
          <a:p>
            <a:pPr>
              <a:defRPr sz="1800"/>
            </a:pPr>
            <a:r>
              <a:t>│   └── GSM3901487/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qc_results/               ← Pre-generated outputs</a:t>
            </a:r>
          </a:p>
          <a:p>
            <a:pPr>
              <a:defRPr sz="1800"/>
            </a:pPr>
            <a:r>
              <a:t>│   ├── qc_metrics_before_filtering.png</a:t>
            </a:r>
          </a:p>
          <a:p>
            <a:pPr>
              <a:defRPr sz="1800"/>
            </a:pPr>
            <a:r>
              <a:t>│   ├── qc_metrics_after_filtering.png</a:t>
            </a:r>
          </a:p>
          <a:p>
            <a:pPr>
              <a:defRPr sz="1800"/>
            </a:pPr>
            <a:r>
              <a:t>│   └── test_input_filtered.h5ad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run_test.sh               ← Run the demo</a:t>
            </a:r>
          </a:p>
          <a:p>
            <a:pPr>
              <a:defRPr sz="1800"/>
            </a:pPr>
            <a:r>
              <a:t>└── requirements.txt          ← Dependencies</a:t>
            </a:r>
          </a:p>
          <a:p>
            <a:pPr>
              <a:defRPr sz="1800"/>
            </a:pPr>
            <a:r>
              <a:t>[NOTE: Everything you need to try it yourself]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Start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QUICK START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# 1. Clone the repository</a:t>
            </a:r>
          </a:p>
          <a:p>
            <a:pPr>
              <a:defRPr sz="1800"/>
            </a:pPr>
            <a:r>
              <a:t>git clone https://github.com/mdbabumiamssm/</a:t>
            </a:r>
          </a:p>
          <a:p>
            <a:pPr>
              <a:defRPr sz="1800"/>
            </a:pPr>
            <a:r>
              <a:t>Universal-Life-Science-and-Clinical-Skills-.git</a:t>
            </a:r>
          </a:p>
          <a:p>
            <a:pPr>
              <a:defRPr sz="1800"/>
            </a:pPr>
            <a:r>
              <a:t># 2. Navigate to the folder</a:t>
            </a:r>
          </a:p>
          <a:p>
            <a:pPr>
              <a:defRPr sz="1800"/>
            </a:pPr>
            <a:r>
              <a:t>cd Universal-Life-Science-and-Clinical-Skills-</a:t>
            </a:r>
          </a:p>
          <a:p>
            <a:pPr>
              <a:defRPr sz="1800"/>
            </a:pPr>
            <a:r>
              <a:t># 3. Install dependencies</a:t>
            </a:r>
          </a:p>
          <a:p>
            <a:pPr>
              <a:defRPr sz="1800"/>
            </a:pPr>
            <a:r>
              <a:t>pip install -r test_demonstration/requirements.txt</a:t>
            </a:r>
          </a:p>
          <a:p>
            <a:pPr>
              <a:defRPr sz="1800"/>
            </a:pPr>
            <a:r>
              <a:t># 4. Run the demo</a:t>
            </a:r>
          </a:p>
          <a:p>
            <a:pPr>
              <a:defRPr sz="1800"/>
            </a:pPr>
            <a:r>
              <a:t>cd test_demonstration</a:t>
            </a:r>
          </a:p>
          <a:p>
            <a:pPr>
              <a:defRPr sz="1800"/>
            </a:pPr>
            <a:r>
              <a:t>bash run_test.sh</a:t>
            </a:r>
          </a:p>
          <a:p>
            <a:pPr>
              <a:defRPr sz="1800"/>
            </a:pPr>
            <a:r>
              <a:t>[CHECKMARK] Ready in under 5 minutes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# VIDEO 3 SLIDES: Live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LIVE DEMO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Single-Cell RNA-seq Quality Control</a:t>
            </a:r>
          </a:p>
          <a:p>
            <a:pPr>
              <a:defRPr sz="1800"/>
            </a:pPr>
            <a:r>
              <a:t>with Real Bone Marrow Data</a:t>
            </a:r>
          </a:p>
          <a:p>
            <a:pPr>
              <a:defRPr sz="1800"/>
            </a:pPr>
            <a:r>
              <a:t>[DNA HELIX ICON + MICROSCOPE ICON]</a:t>
            </a:r>
          </a:p>
          <a:p>
            <a:pPr>
              <a:defRPr sz="1800"/>
            </a:pPr>
            <a:r>
              <a:t>Video 3 of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DATASET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Source: GEO Dataset GSE136112</a:t>
            </a:r>
          </a:p>
          <a:p>
            <a:pPr>
              <a:defRPr sz="1800"/>
            </a:pPr>
            <a:r>
              <a:t>Tissue: Human Bone Marrow</a:t>
            </a:r>
          </a:p>
          <a:p>
            <a:pPr>
              <a:defRPr sz="1800"/>
            </a:pPr>
            <a:r>
              <a:t>Samples: 3 biological replicates</a:t>
            </a:r>
          </a:p>
          <a:p>
            <a:pPr>
              <a:defRPr sz="1800"/>
            </a:pPr>
            <a:r>
              <a:t>[TABLE]</a:t>
            </a:r>
          </a:p>
          <a:p>
            <a:pPr>
              <a:defRPr sz="1800"/>
            </a:pPr>
            <a:r>
              <a:t>Sample      | Cells  | Format</a:t>
            </a:r>
          </a:p>
          <a:p>
            <a:pPr>
              <a:defRPr sz="1800"/>
            </a:pPr>
            <a:r>
              <a:t>------------|--------|--------</a:t>
            </a:r>
          </a:p>
          <a:p>
            <a:pPr>
              <a:defRPr sz="1800"/>
            </a:pPr>
            <a:r>
              <a:t>GSM3901485  | ~8,400 | 10X Genomics</a:t>
            </a:r>
          </a:p>
          <a:p>
            <a:pPr>
              <a:defRPr sz="1800"/>
            </a:pPr>
            <a:r>
              <a:t>GSM3901486  | ~7,900 | 10X Genomics</a:t>
            </a:r>
          </a:p>
          <a:p>
            <a:pPr>
              <a:defRPr sz="1800"/>
            </a:pPr>
            <a:r>
              <a:t>GSM3901487  | ~9,100 | 10X Genomics</a:t>
            </a:r>
          </a:p>
          <a:p>
            <a:pPr>
              <a:defRPr sz="1800"/>
            </a:pPr>
            <a:r>
              <a:t>[NOTE: Real published data, not synthetic]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10X Genomics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10X GENOMICS FILE FORMAT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Each sample folder contains:</a:t>
            </a:r>
          </a:p>
          <a:p>
            <a:pPr>
              <a:defRPr sz="1800"/>
            </a:pPr>
            <a:r>
              <a:t>GSM3901485/</a:t>
            </a:r>
          </a:p>
          <a:p>
            <a:pPr>
              <a:defRPr sz="1800"/>
            </a:pPr>
            <a:r>
              <a:t>├── matrix.mtx      Sparse expression matrix</a:t>
            </a:r>
          </a:p>
          <a:p>
            <a:pPr>
              <a:defRPr sz="1800"/>
            </a:pPr>
            <a:r>
              <a:t>│                   (genes × cells × counts)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genes.tsv       Gene identifiers</a:t>
            </a:r>
          </a:p>
          <a:p>
            <a:pPr>
              <a:defRPr sz="1800"/>
            </a:pPr>
            <a:r>
              <a:t>│                   (Ensembl ID + Symbol)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└── barcodes.tsv    Cell barcodes</a:t>
            </a:r>
          </a:p>
          <a:p>
            <a:pPr>
              <a:defRPr sz="1800"/>
            </a:pPr>
            <a:r>
              <a:t>(unique cell IDs)</a:t>
            </a:r>
          </a:p>
          <a:p>
            <a:pPr>
              <a:defRPr sz="1800"/>
            </a:pPr>
            <a:r>
              <a:t>[ICON: Matrix visualization]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QC?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WHY QUALITY CONTROL?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Not every "cell" is a healthy, intact cell:</a:t>
            </a:r>
          </a:p>
          <a:p>
            <a:pPr>
              <a:defRPr sz="1800"/>
            </a:pPr>
            <a:r>
              <a:t>[FOUR ICONS WITH LABELS]</a:t>
            </a:r>
          </a:p>
          <a:p>
            <a:pPr>
              <a:defRPr sz="1800"/>
            </a:pPr>
            <a:r>
              <a:t>[Empty Drop]          [Dying Cell]</a:t>
            </a:r>
          </a:p>
          <a:p>
            <a:pPr>
              <a:defRPr sz="1800"/>
            </a:pPr>
            <a:r>
              <a:t>Empty droplets       Damaged cells with</a:t>
            </a:r>
          </a:p>
          <a:p>
            <a:pPr>
              <a:defRPr sz="1800"/>
            </a:pPr>
            <a:r>
              <a:t>with few reads       high mitochondrial %</a:t>
            </a:r>
          </a:p>
          <a:p>
            <a:pPr>
              <a:defRPr sz="1800"/>
            </a:pPr>
            <a:r>
              <a:t>[Two Cells]          [Low Genes]</a:t>
            </a:r>
          </a:p>
          <a:p>
            <a:pPr>
              <a:defRPr sz="1800"/>
            </a:pPr>
            <a:r>
              <a:t>Doublets - two       Low-quality with</a:t>
            </a:r>
          </a:p>
          <a:p>
            <a:pPr>
              <a:defRPr sz="1800"/>
            </a:pPr>
            <a:r>
              <a:t>cells in one drop    few genes detected</a:t>
            </a:r>
          </a:p>
          <a:p>
            <a:pPr>
              <a:defRPr sz="1800"/>
            </a:pPr>
            <a:r>
              <a:t>[ARROW] QC identifies and removes these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QC METRICS CALCULATED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[TABLE WITH ICONS]</a:t>
            </a:r>
          </a:p>
          <a:p>
            <a:pPr>
              <a:defRPr sz="1800"/>
            </a:pPr>
            <a:r>
              <a:t>Metric              | Meaning                | Threshold</a:t>
            </a:r>
          </a:p>
          <a:p>
            <a:pPr>
              <a:defRPr sz="1800"/>
            </a:pPr>
            <a:r>
              <a:t>--------------------|------------------------|-------------</a:t>
            </a:r>
          </a:p>
          <a:p>
            <a:pPr>
              <a:defRPr sz="1800"/>
            </a:pPr>
            <a:r>
              <a:t>total_counts        | Total UMIs per cell    | MAD-based</a:t>
            </a:r>
          </a:p>
          <a:p>
            <a:pPr>
              <a:defRPr sz="1800"/>
            </a:pPr>
            <a:r>
              <a:t>n_genes_by_counts   | Unique genes detected  | MAD-based</a:t>
            </a:r>
          </a:p>
          <a:p>
            <a:pPr>
              <a:defRPr sz="1800"/>
            </a:pPr>
            <a:r>
              <a:t>pct_counts_mt       | Mitochondrial %        | &lt; 20%</a:t>
            </a:r>
          </a:p>
          <a:p>
            <a:pPr>
              <a:defRPr sz="1800"/>
            </a:pPr>
            <a:r>
              <a:t>pct_counts_ribo     | Ribosomal %            | Informational</a:t>
            </a:r>
          </a:p>
          <a:p>
            <a:pPr>
              <a:defRPr sz="1800"/>
            </a:pPr>
            <a:r>
              <a:t>pct_counts_hb       | Hemoglobin %           | &lt; 1%</a:t>
            </a:r>
          </a:p>
          <a:p>
            <a:pPr>
              <a:defRPr sz="1800"/>
            </a:pPr>
            <a:r>
              <a:t>[NOTE: MAD = Median Absolute Deviation (robust outlier detection)]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Filtering (Placeholder for 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BEFORE FILTERING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[PLACEHOLDER: Insert qc_metrics_before_filtering.png]</a:t>
            </a:r>
          </a:p>
          <a:p>
            <a:pPr>
              <a:defRPr sz="1800"/>
            </a:pPr>
            <a:r>
              <a:t>Key Observations:</a:t>
            </a:r>
          </a:p>
          <a:p>
            <a:pPr>
              <a:defRPr sz="1800"/>
            </a:pPr>
            <a:r>
              <a:t>Wide distribution of total counts</a:t>
            </a:r>
          </a:p>
          <a:p>
            <a:pPr>
              <a:defRPr sz="1800"/>
            </a:pPr>
            <a:r>
              <a:t>Cells with &gt;30% mitochondrial (dying cells)</a:t>
            </a:r>
          </a:p>
          <a:p>
            <a:pPr>
              <a:defRPr sz="1800"/>
            </a:pPr>
            <a:r>
              <a:t>Low-gene-count outliers (empty droplets)</a:t>
            </a:r>
          </a:p>
          <a:p>
            <a:pPr>
              <a:defRPr sz="1800"/>
            </a:pPr>
            <a:r>
              <a:t>Potential doublets (very high counts)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Filtering (Placeholder for 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AFTER FILTERING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[PLACEHOLDER: Insert qc_metrics_after_filtering.png]</a:t>
            </a:r>
          </a:p>
          <a:p>
            <a:pPr>
              <a:defRPr sz="1800"/>
            </a:pPr>
            <a:r>
              <a:t>Results:</a:t>
            </a:r>
          </a:p>
          <a:p>
            <a:pPr>
              <a:defRPr sz="1800"/>
            </a:pPr>
            <a:r>
              <a:t>Tighter distributions</a:t>
            </a:r>
          </a:p>
          <a:p>
            <a:pPr>
              <a:defRPr sz="1800"/>
            </a:pPr>
            <a:r>
              <a:t>Mitochondrial outliers removed</a:t>
            </a:r>
          </a:p>
          <a:p>
            <a:pPr>
              <a:defRPr sz="1800"/>
            </a:pPr>
            <a:r>
              <a:t>Empty droplets excluded</a:t>
            </a:r>
          </a:p>
          <a:p>
            <a:pPr>
              <a:defRPr sz="1800"/>
            </a:pPr>
            <a:r>
              <a:t>Clean dataset ready for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QC RESULTS SUMMARY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[RESULTS TABLE]</a:t>
            </a:r>
          </a:p>
          <a:p>
            <a:pPr>
              <a:defRPr sz="1800"/>
            </a:pPr>
            <a:r>
              <a:t>Metric              | Before    | After     | Change</a:t>
            </a:r>
          </a:p>
          <a:p>
            <a:pPr>
              <a:defRPr sz="1800"/>
            </a:pPr>
            <a:r>
              <a:t>--------------------|-----------|-----------|--------</a:t>
            </a:r>
          </a:p>
          <a:p>
            <a:pPr>
              <a:defRPr sz="1800"/>
            </a:pPr>
            <a:r>
              <a:t>Total Cells         | 25,407    | 22,925    | -9.8%</a:t>
            </a:r>
          </a:p>
          <a:p>
            <a:pPr>
              <a:defRPr sz="1800"/>
            </a:pPr>
            <a:r>
              <a:t>Median Genes/Cell   | 2,838     | 2,912     | +2.6%</a:t>
            </a:r>
          </a:p>
          <a:p>
            <a:pPr>
              <a:defRPr sz="1800"/>
            </a:pPr>
            <a:r>
              <a:t>Median Mito %       | 4.2%      | 3.8%      | -0.4%</a:t>
            </a:r>
          </a:p>
          <a:p>
            <a:pPr>
              <a:defRPr sz="1800"/>
            </a:pPr>
            <a:r>
              <a:t>Doublet Score       | Variable  | Low       | Cleaned</a:t>
            </a:r>
          </a:p>
          <a:p>
            <a:pPr>
              <a:defRPr sz="1800"/>
            </a:pPr>
            <a:r>
              <a:t>[CHECKMARK] Dataset ready for downstream analysis</a:t>
            </a:r>
          </a:p>
          <a:p>
            <a:pPr>
              <a:defRPr sz="1800"/>
            </a:pPr>
            <a:r>
              <a:t>Clustering</a:t>
            </a:r>
          </a:p>
          <a:p>
            <a:pPr>
              <a:defRPr sz="1800"/>
            </a:pPr>
            <a:r>
              <a:t>Trajectory inference</a:t>
            </a:r>
          </a:p>
          <a:p>
            <a:pPr>
              <a:defRPr sz="1800"/>
            </a:pPr>
            <a:r>
              <a:t>Differential expression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Portability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SAME SKILL, ANY PLATFORM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[THREE LOGOS SIDE BY SIDE]</a:t>
            </a:r>
          </a:p>
          <a:p>
            <a:pPr>
              <a:defRPr sz="1800"/>
            </a:pPr>
            <a:r>
              <a:t>Claude              OpenAI              Gemini</a:t>
            </a:r>
          </a:p>
          <a:p>
            <a:pPr>
              <a:defRPr sz="1800"/>
            </a:pPr>
            <a:r>
              <a:t>──────              ──────              ──────</a:t>
            </a:r>
          </a:p>
          <a:p>
            <a:pPr>
              <a:defRPr sz="1800"/>
            </a:pPr>
            <a:r>
              <a:t>MCP Format          Function Calling    API Format</a:t>
            </a:r>
          </a:p>
          <a:p>
            <a:pPr>
              <a:defRPr sz="1800"/>
            </a:pPr>
            <a:r>
              <a:t>↑               ↑                  ↑</a:t>
            </a:r>
          </a:p>
          <a:p>
            <a:pPr>
              <a:defRPr sz="1800"/>
            </a:pPr>
            <a:r>
              <a:t>└───────────────┼──────────────────┘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┌────────────┐</a:t>
            </a:r>
          </a:p>
          <a:p>
            <a:pPr>
              <a:defRPr sz="1800"/>
            </a:pPr>
            <a:r>
              <a:t>│    USDL    │</a:t>
            </a:r>
          </a:p>
          <a:p>
            <a:pPr>
              <a:defRPr sz="1800"/>
            </a:pPr>
            <a:r>
              <a:t>│  (Source)  │</a:t>
            </a:r>
          </a:p>
          <a:p>
            <a:pPr>
              <a:defRPr sz="1800"/>
            </a:pPr>
            <a:r>
              <a:t>└────────────┘</a:t>
            </a:r>
          </a:p>
          <a:p>
            <a:pPr>
              <a:defRPr sz="1800"/>
            </a:pPr>
            <a:r>
              <a:t>The science doesn't change when you switch vendors.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# VIDEO 4 SLIDES: USDL &amp; Adapters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WRITE ONCE, DEPLOY EVERYWHERE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 USDL Architecture</a:t>
            </a:r>
          </a:p>
          <a:p>
            <a:pPr>
              <a:defRPr sz="1800"/>
            </a:pPr>
            <a:r>
              <a:t>[CODE ICON + TRANSFORM ICON]</a:t>
            </a:r>
          </a:p>
          <a:p>
            <a:pPr>
              <a:defRPr sz="1800"/>
            </a:pPr>
            <a:r>
              <a:t>Video 4 of 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Rewriting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REWRITING PROBLEM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Same skill, three different formats:</a:t>
            </a:r>
          </a:p>
          <a:p>
            <a:pPr>
              <a:defRPr sz="1800"/>
            </a:pPr>
            <a:r>
              <a:t>[THREE CODE BLOCKS SIDE BY SIDE]</a:t>
            </a:r>
          </a:p>
          <a:p>
            <a:pPr>
              <a:defRPr sz="1800"/>
            </a:pPr>
            <a:r>
              <a:t>CLAUDE                  OPENAI                 GEMINI</a:t>
            </a:r>
          </a:p>
          <a:p>
            <a:pPr>
              <a:defRPr sz="1800"/>
            </a:pPr>
            <a:r>
              <a:t>──────                  ──────                 ──────</a:t>
            </a:r>
          </a:p>
          <a:p>
            <a:pPr>
              <a:defRPr sz="1800"/>
            </a:pPr>
            <a:r>
              <a:t>&lt;system&gt;                {"role":               You are...</a:t>
            </a:r>
          </a:p>
          <a:p>
            <a:pPr>
              <a:defRPr sz="1800"/>
            </a:pPr>
            <a:r>
              <a:t>You are...              "system",</a:t>
            </a:r>
          </a:p>
          <a:p>
            <a:pPr>
              <a:defRPr sz="1800"/>
            </a:pPr>
            <a:r>
              <a:t>&lt;/system&gt;               "content":             [markdown</a:t>
            </a:r>
          </a:p>
          <a:p>
            <a:pPr>
              <a:defRPr sz="1800"/>
            </a:pPr>
            <a:r>
              <a:t>&lt;human&gt;                 "You are..."}          format]</a:t>
            </a:r>
          </a:p>
          <a:p>
            <a:pPr>
              <a:defRPr sz="1800"/>
            </a:pPr>
            <a:r>
              <a:t>...</a:t>
            </a:r>
          </a:p>
          <a:p>
            <a:pPr>
              <a:defRPr sz="1800"/>
            </a:pPr>
            <a:r>
              <a:t>&lt;/human&gt;                functions: [           generateContent</a:t>
            </a:r>
          </a:p>
          <a:p>
            <a:pPr>
              <a:defRPr sz="1800"/>
            </a:pPr>
            <a:r>
              <a:t>&lt;assistant&gt;             {name: ...}            ({...})</a:t>
            </a:r>
          </a:p>
          <a:p>
            <a:pPr>
              <a:defRPr sz="1800"/>
            </a:pPr>
            <a:r>
              <a:t>]</a:t>
            </a:r>
          </a:p>
          <a:p>
            <a:pPr>
              <a:defRPr sz="1800"/>
            </a:pPr>
            <a:r>
              <a:t>[FRUSTRATED FACE] Different syntax. Same meaning. Wasted effort.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USDL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USDL: UNIVERSAL SKILL DEFINITION LANGUAGE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 standardized YAML schema for biomedical AI skills</a:t>
            </a:r>
          </a:p>
          <a:p>
            <a:pPr>
              <a:defRPr sz="1800"/>
            </a:pPr>
            <a:r>
              <a:t>[USDL ICON]</a:t>
            </a:r>
          </a:p>
          <a:p>
            <a:pPr>
              <a:defRPr sz="1800"/>
            </a:pPr>
            <a:r>
              <a:t>Design Principles:</a:t>
            </a:r>
          </a:p>
          <a:p>
            <a:pPr>
              <a:defRPr sz="1800"/>
            </a:pPr>
            <a:r>
              <a:t>Platform-neutral - No vendor-specific syntax</a:t>
            </a:r>
          </a:p>
          <a:p>
            <a:pPr>
              <a:defRPr sz="1800"/>
            </a:pPr>
            <a:r>
              <a:t>Human-readable - Easy to write and review</a:t>
            </a:r>
          </a:p>
          <a:p>
            <a:pPr>
              <a:defRPr sz="1800"/>
            </a:pPr>
            <a:r>
              <a:t>Machine-validatable - Schema-checked correctness</a:t>
            </a:r>
          </a:p>
          <a:p>
            <a:pPr>
              <a:defRPr sz="1800"/>
            </a:pPr>
            <a:r>
              <a:t>Extensible - Add new platforms without changing core</a:t>
            </a:r>
          </a:p>
          <a:p>
            <a:pPr>
              <a:defRPr sz="1800"/>
            </a:pPr>
            <a:r>
              <a:t>[FILE ICON] single_cell_qc.yaml → Source of truth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USDL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USDL STRUCTURE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skill:</a:t>
            </a:r>
          </a:p>
          <a:p>
            <a:pPr>
              <a:defRPr sz="1800"/>
            </a:pPr>
            <a:r>
              <a:t>id: single-cell-qc              ← Unique identifier</a:t>
            </a:r>
          </a:p>
          <a:p>
            <a:pPr>
              <a:defRPr sz="1800"/>
            </a:pPr>
            <a:r>
              <a:t>name: "scRNA-seq QC"            ← Human name</a:t>
            </a:r>
          </a:p>
          <a:p>
            <a:pPr>
              <a:defRPr sz="1800"/>
            </a:pPr>
            <a:r>
              <a:t>version: "1.0.0"                ← Semantic versioning</a:t>
            </a:r>
          </a:p>
          <a:p>
            <a:pPr>
              <a:defRPr sz="1800"/>
            </a:pPr>
            <a:r>
              <a:t>domain: genomics                ← Classification</a:t>
            </a:r>
          </a:p>
          <a:p>
            <a:pPr>
              <a:defRPr sz="1800"/>
            </a:pPr>
            <a:r>
              <a:t>capabilities:                      ← What it can do</a:t>
            </a:r>
          </a:p>
          <a:p>
            <a:pPr>
              <a:defRPr sz="1800"/>
            </a:pPr>
            <a:r>
              <a:t>name: calculate_qc_metrics</a:t>
            </a:r>
          </a:p>
          <a:p>
            <a:pPr>
              <a:defRPr sz="1800"/>
            </a:pPr>
            <a:r>
              <a:t>inputs: [...]</a:t>
            </a:r>
          </a:p>
          <a:p>
            <a:pPr>
              <a:defRPr sz="1800"/>
            </a:pPr>
            <a:r>
              <a:t>outputs: [...]</a:t>
            </a:r>
          </a:p>
          <a:p>
            <a:pPr>
              <a:defRPr sz="1800"/>
            </a:pPr>
            <a:r>
              <a:t>prompts:                          ← AI instructions</a:t>
            </a:r>
          </a:p>
          <a:p>
            <a:pPr>
              <a:defRPr sz="1800"/>
            </a:pPr>
            <a:r>
              <a:t>system: "You are an expert..."</a:t>
            </a:r>
          </a:p>
          <a:p>
            <a:pPr>
              <a:defRPr sz="1800"/>
            </a:pPr>
            <a:r>
              <a:t>user_template: "Analyze {data}"</a:t>
            </a:r>
          </a:p>
          <a:p>
            <a:pPr>
              <a:defRPr sz="1800"/>
            </a:pPr>
            <a:r>
              <a:t>platforms:                        ← Platform hints</a:t>
            </a:r>
          </a:p>
          <a:p>
            <a:pPr>
              <a:defRPr sz="1800"/>
            </a:pPr>
            <a:r>
              <a:t>claude: {prompt_style: xml_tags}</a:t>
            </a:r>
          </a:p>
          <a:p>
            <a:pPr>
              <a:defRPr sz="1800"/>
            </a:pPr>
            <a:r>
              <a:t>openai: {function_calling: true}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ADAPTER SYSTEM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[FLOW DIAGRAM]</a:t>
            </a:r>
          </a:p>
          <a:p>
            <a:pPr>
              <a:defRPr sz="1800"/>
            </a:pPr>
            <a:r>
              <a:t>┌──────────────────┐</a:t>
            </a:r>
          </a:p>
          <a:p>
            <a:pPr>
              <a:defRPr sz="1800"/>
            </a:pPr>
            <a:r>
              <a:t>│   USDL Source    │</a:t>
            </a:r>
          </a:p>
          <a:p>
            <a:pPr>
              <a:defRPr sz="1800"/>
            </a:pPr>
            <a:r>
              <a:t>│  (YAML file)     │</a:t>
            </a:r>
          </a:p>
          <a:p>
            <a:pPr>
              <a:defRPr sz="1800"/>
            </a:pPr>
            <a:r>
              <a:t>└────────┬─────────┘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│ parse &amp; validate</a:t>
            </a:r>
          </a:p>
          <a:p>
            <a:pPr>
              <a:defRPr sz="1800"/>
            </a:pPr>
            <a:r>
              <a:t>▼</a:t>
            </a:r>
          </a:p>
          <a:p>
            <a:pPr>
              <a:defRPr sz="1800"/>
            </a:pPr>
            <a:r>
              <a:t>┌──────────────────┐</a:t>
            </a:r>
          </a:p>
          <a:p>
            <a:pPr>
              <a:defRPr sz="1800"/>
            </a:pPr>
            <a:r>
              <a:t>│  Adapter Engine  │</a:t>
            </a:r>
          </a:p>
          <a:p>
            <a:pPr>
              <a:defRPr sz="1800"/>
            </a:pPr>
            <a:r>
              <a:t>└────────┬─────────┘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┌────┴────┬────────────┐</a:t>
            </a:r>
          </a:p>
          <a:p>
            <a:pPr>
              <a:defRPr sz="1800"/>
            </a:pPr>
            <a:r>
              <a:t>▼         ▼            ▼</a:t>
            </a:r>
          </a:p>
          <a:p>
            <a:pPr>
              <a:defRPr sz="1800"/>
            </a:pPr>
            <a:r>
              <a:t>┌───────┐ ┌───────┐ ┌───────────┐</a:t>
            </a:r>
          </a:p>
          <a:p>
            <a:pPr>
              <a:defRPr sz="1800"/>
            </a:pPr>
            <a:r>
              <a:t>│Claude │ │OpenAI │ │  Gemini   │</a:t>
            </a:r>
          </a:p>
          <a:p>
            <a:pPr>
              <a:defRPr sz="1800"/>
            </a:pPr>
            <a:r>
              <a:t>│Adapter│ │Adapter│ │  Adapter  │</a:t>
            </a:r>
          </a:p>
          <a:p>
            <a:pPr>
              <a:defRPr sz="1800"/>
            </a:pPr>
            <a:r>
              <a:t>└───┬───┘ └───┬───┘ └─────┬─────┘</a:t>
            </a:r>
          </a:p>
          <a:p>
            <a:pPr>
              <a:defRPr sz="1800"/>
            </a:pPr>
            <a:r>
              <a:t>│         │           │</a:t>
            </a:r>
          </a:p>
          <a:p>
            <a:pPr>
              <a:defRPr sz="1800"/>
            </a:pPr>
            <a:r>
              <a:t>▼         ▼           ▼</a:t>
            </a:r>
          </a:p>
          <a:p>
            <a:pPr>
              <a:defRPr sz="1800"/>
            </a:pPr>
            <a:r>
              <a:t>MCP pkg   Functions   API config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 Adapter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CLAUDE ADAPTER OUTPUT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Input: single_cell_qc.yaml</a:t>
            </a:r>
          </a:p>
          <a:p>
            <a:pPr>
              <a:defRPr sz="1800"/>
            </a:pPr>
            <a:r>
              <a:t>Output:</a:t>
            </a:r>
          </a:p>
          <a:p>
            <a:pPr>
              <a:defRPr sz="1800"/>
            </a:pPr>
            <a:r>
              <a:t>├── mcp_server/</a:t>
            </a:r>
          </a:p>
          <a:p>
            <a:pPr>
              <a:defRPr sz="1800"/>
            </a:pPr>
            <a:r>
              <a:t>│   ├── server.py</a:t>
            </a:r>
          </a:p>
          <a:p>
            <a:pPr>
              <a:defRPr sz="1800"/>
            </a:pPr>
            <a:r>
              <a:t>│   ├── tools.json</a:t>
            </a:r>
          </a:p>
          <a:p>
            <a:pPr>
              <a:defRPr sz="1800"/>
            </a:pPr>
            <a:r>
              <a:t>│   └── manifest.json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SKILL.md              ← Claude Code integration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└── api_schema.json       ← Tool use schema</a:t>
            </a:r>
          </a:p>
          <a:p>
            <a:pPr>
              <a:defRPr sz="1800"/>
            </a:pPr>
            <a:r>
              <a:t>[COMMAND]</a:t>
            </a:r>
          </a:p>
          <a:p>
            <a:pPr>
              <a:defRPr sz="1800"/>
            </a:pPr>
            <a:r>
              <a:t>python cli.py build --platform claude examples/single_cell_qc.yaml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OpenAI Adapter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OPENAI ADAPTER OUTPUT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Input: single_cell_qc.yaml</a:t>
            </a:r>
          </a:p>
          <a:p>
            <a:pPr>
              <a:defRPr sz="1800"/>
            </a:pPr>
            <a:r>
              <a:t>Output:</a:t>
            </a:r>
          </a:p>
          <a:p>
            <a:pPr>
              <a:defRPr sz="1800"/>
            </a:pPr>
            <a:r>
              <a:t>├── custom_gpt/</a:t>
            </a:r>
          </a:p>
          <a:p>
            <a:pPr>
              <a:defRPr sz="1800"/>
            </a:pPr>
            <a:r>
              <a:t>│   ├── instructions.md</a:t>
            </a:r>
          </a:p>
          <a:p>
            <a:pPr>
              <a:defRPr sz="1800"/>
            </a:pPr>
            <a:r>
              <a:t>│   └── actions.json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assistants_api.json   ← Assistants API config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└── functions.json        ← Function calling schema</a:t>
            </a:r>
          </a:p>
          <a:p>
            <a:pPr>
              <a:defRPr sz="1800"/>
            </a:pPr>
            <a:r>
              <a:t>[COMMAND]</a:t>
            </a:r>
          </a:p>
          <a:p>
            <a:pPr>
              <a:defRPr sz="1800"/>
            </a:pPr>
            <a:r>
              <a:t>python cli.py build --platform openai examples/single_cell_qc.yaml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Side-by-Side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SAME INPUT, SAME OUTPUT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[TWO COLUMNS]</a:t>
            </a:r>
          </a:p>
          <a:p>
            <a:pPr>
              <a:defRPr sz="1800"/>
            </a:pPr>
            <a:r>
              <a:t>CLAUDE OUTPUT              OPENAI OUTPUT</a:t>
            </a:r>
          </a:p>
          <a:p>
            <a:pPr>
              <a:defRPr sz="1800"/>
            </a:pPr>
            <a:r>
              <a:t>─────────────              ─────────────</a:t>
            </a:r>
          </a:p>
          <a:p>
            <a:pPr>
              <a:defRPr sz="1800"/>
            </a:pPr>
            <a:r>
              <a:t>&lt;analysis&gt;                 {</a:t>
            </a:r>
          </a:p>
          <a:p>
            <a:pPr>
              <a:defRPr sz="1800"/>
            </a:pPr>
            <a:r>
              <a:t>Cells analyzed: 8,412      "cells_analyzed": 8412,</a:t>
            </a:r>
          </a:p>
          <a:p>
            <a:pPr>
              <a:defRPr sz="1800"/>
            </a:pPr>
            <a:r>
              <a:t>Cells filtered: 847        "cells_filtered": 847,</a:t>
            </a:r>
          </a:p>
          <a:p>
            <a:pPr>
              <a:defRPr sz="1800"/>
            </a:pPr>
            <a:r>
              <a:t>Filter rate: 10.1%         "filter_rate": 0.101,</a:t>
            </a:r>
          </a:p>
          <a:p>
            <a:pPr>
              <a:defRPr sz="1800"/>
            </a:pPr>
            <a:r>
              <a:t>...                        ...</a:t>
            </a:r>
          </a:p>
          <a:p>
            <a:pPr>
              <a:defRPr sz="1800"/>
            </a:pPr>
            <a:r>
              <a:t>&lt;/analysis&gt;                }</a:t>
            </a:r>
          </a:p>
          <a:p>
            <a:pPr>
              <a:defRPr sz="1800"/>
            </a:pPr>
            <a:r>
              <a:t>[CHECKMARK] Different format. Identical analysis.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BUILT-IN VALIDATION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[TERMINAL OUTPUT]</a:t>
            </a:r>
          </a:p>
          <a:p>
            <a:pPr>
              <a:defRPr sz="1800"/>
            </a:pPr>
            <a:r>
              <a:t>$ python cli.py validate examples/single_cell_qc.yaml</a:t>
            </a:r>
          </a:p>
          <a:p>
            <a:pPr>
              <a:defRPr sz="1800"/>
            </a:pPr>
            <a:r>
              <a:t>✓ Schema validation passed</a:t>
            </a:r>
          </a:p>
          <a:p>
            <a:pPr>
              <a:defRPr sz="1800"/>
            </a:pPr>
            <a:r>
              <a:t>✓ Required fields present</a:t>
            </a:r>
          </a:p>
          <a:p>
            <a:pPr>
              <a:defRPr sz="1800"/>
            </a:pPr>
            <a:r>
              <a:t>✓ Capability definitions complete</a:t>
            </a:r>
          </a:p>
          <a:p>
            <a:pPr>
              <a:defRPr sz="1800"/>
            </a:pPr>
            <a:r>
              <a:t>✓ Platform configurations valid</a:t>
            </a:r>
          </a:p>
          <a:p>
            <a:pPr>
              <a:defRPr sz="1800"/>
            </a:pPr>
            <a:r>
              <a:t>✓ Test cases defined</a:t>
            </a:r>
          </a:p>
          <a:p>
            <a:pPr>
              <a:defRPr sz="1800"/>
            </a:pPr>
            <a:r>
              <a:t>Skill 'single-cell-qc' is valid and ready for deployment.</a:t>
            </a:r>
          </a:p>
          <a:p>
            <a:pPr>
              <a:defRPr sz="1800"/>
            </a:pPr>
            <a:r>
              <a:t>[SHIELD ICON] Catch errors before they reach production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# VIDEO 5 SLIDES: Platform Prototype SDK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PLATFORM PROTOTYPE SDK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Building &amp; Deploying Biomedical Skills</a:t>
            </a:r>
          </a:p>
          <a:p>
            <a:pPr>
              <a:defRPr sz="1800"/>
            </a:pPr>
            <a:r>
              <a:t>[TOOLBOX ICON]</a:t>
            </a:r>
          </a:p>
          <a:p>
            <a:pPr>
              <a:defRPr sz="1800"/>
            </a:pPr>
            <a:r>
              <a:t>Video 5 of 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SDK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SDK COMPONENTS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platform_prototype/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cli.py              [TERMINAL] Command-line interface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adapters/           [TRANSFORM] Platform converters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biokernel/          [BRAIN] Intelligent runtime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schema/             [SCHEMA] USDL specification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├── optimizer/          [SPARKLE] AI prompt tuning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└── evaluator/          [CHECK] Cross-platform testing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CLI COMMANDS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[COMMAND LIST WITH ICONS]</a:t>
            </a:r>
          </a:p>
          <a:p>
            <a:pPr>
              <a:defRPr sz="1800"/>
            </a:pPr>
            <a:r>
              <a:t>validate    ✓  Check skill against USDL schema</a:t>
            </a:r>
          </a:p>
          <a:p>
            <a:pPr>
              <a:defRPr sz="1800"/>
            </a:pPr>
            <a:r>
              <a:t>build       →  Generate platform-specific artifacts</a:t>
            </a:r>
          </a:p>
          <a:p>
            <a:pPr>
              <a:defRPr sz="1800"/>
            </a:pPr>
            <a:r>
              <a:t>optimize    ★  AI-tune prompts for platforms</a:t>
            </a:r>
          </a:p>
          <a:p>
            <a:pPr>
              <a:defRPr sz="1800"/>
            </a:pPr>
            <a:r>
              <a:t>test        ◉  Run evaluation suite</a:t>
            </a:r>
          </a:p>
          <a:p>
            <a:pPr>
              <a:defRPr sz="1800"/>
            </a:pPr>
            <a:r>
              <a:t>serve       ▶  Start BioKernel runtime</a:t>
            </a:r>
          </a:p>
          <a:p>
            <a:pPr>
              <a:defRPr sz="1800"/>
            </a:pPr>
            <a:r>
              <a:t>compare     ≡  Cross-platform performance comparison</a:t>
            </a:r>
          </a:p>
          <a:p>
            <a:pPr>
              <a:defRPr sz="1800"/>
            </a:pPr>
            <a:r>
              <a:t>[EXAMPLE]</a:t>
            </a:r>
          </a:p>
          <a:p>
            <a:pPr>
              <a:defRPr sz="1800"/>
            </a:pPr>
            <a:r>
              <a:t>python cli.py build --platform claude examples/skill.yaml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BioKernel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BIOKERNEL: INTELLIGENT RUNTIME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[ARCHITECTURE DIAGRAM]</a:t>
            </a:r>
          </a:p>
          <a:p>
            <a:pPr>
              <a:defRPr sz="1800"/>
            </a:pPr>
            <a:r>
              <a:t>┌───────────────┐</a:t>
            </a:r>
          </a:p>
          <a:p>
            <a:pPr>
              <a:defRPr sz="1800"/>
            </a:pPr>
            <a:r>
              <a:t>│   Request     │</a:t>
            </a:r>
          </a:p>
          <a:p>
            <a:pPr>
              <a:defRPr sz="1800"/>
            </a:pPr>
            <a:r>
              <a:t>└───────┬───────┘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▼</a:t>
            </a:r>
          </a:p>
          <a:p>
            <a:pPr>
              <a:defRPr sz="1800"/>
            </a:pPr>
            <a:r>
              <a:t>┌───────────────┐</a:t>
            </a:r>
          </a:p>
          <a:p>
            <a:pPr>
              <a:defRPr sz="1800"/>
            </a:pPr>
            <a:r>
              <a:t>│  Task Router  │ ← Analyzes complexity</a:t>
            </a:r>
          </a:p>
          <a:p>
            <a:pPr>
              <a:defRPr sz="1800"/>
            </a:pPr>
            <a:r>
              <a:t>└───────┬───────┘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┌────────────────┼────────────────┐</a:t>
            </a:r>
          </a:p>
          <a:p>
            <a:pPr>
              <a:defRPr sz="1800"/>
            </a:pPr>
            <a:r>
              <a:t>▼                ▼                ▼</a:t>
            </a:r>
          </a:p>
          <a:p>
            <a:pPr>
              <a:defRPr sz="1800"/>
            </a:pPr>
            <a:r>
              <a:t>┌─────────┐     ┌──────────┐    ┌──────────┐</a:t>
            </a:r>
          </a:p>
          <a:p>
            <a:pPr>
              <a:defRPr sz="1800"/>
            </a:pPr>
            <a:r>
              <a:t>│ Simple  │     │ Complex  │    │  Local   │</a:t>
            </a:r>
          </a:p>
          <a:p>
            <a:pPr>
              <a:defRPr sz="1800"/>
            </a:pPr>
            <a:r>
              <a:t>│ (Flash) │     │ (Opus)   │    │ (Llama)  │</a:t>
            </a:r>
          </a:p>
          <a:p>
            <a:pPr>
              <a:defRPr sz="1800"/>
            </a:pPr>
            <a:r>
              <a:t>└─────────┘     └──────────┘    └──────────┘</a:t>
            </a:r>
          </a:p>
          <a:p>
            <a:pPr>
              <a:defRPr sz="1800"/>
            </a:pPr>
            <a:r>
              <a:t>Fast &amp; Cheap     Most Capable      Privacy First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INTELLIGENT ROUTING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[ROUTING TABLE]</a:t>
            </a:r>
          </a:p>
          <a:p>
            <a:pPr>
              <a:defRPr sz="1800"/>
            </a:pPr>
            <a:r>
              <a:t>Task Type            | Routed To      | Why</a:t>
            </a:r>
          </a:p>
          <a:p>
            <a:pPr>
              <a:defRPr sz="1800"/>
            </a:pPr>
            <a:r>
              <a:t>---------------------|----------------|-------------------</a:t>
            </a:r>
          </a:p>
          <a:p>
            <a:pPr>
              <a:defRPr sz="1800"/>
            </a:pPr>
            <a:r>
              <a:t>Simple lookup        | Gemini Flash   | Fast, low cost</a:t>
            </a:r>
          </a:p>
          <a:p>
            <a:pPr>
              <a:defRPr sz="1800"/>
            </a:pPr>
            <a:r>
              <a:t>Complex reasoning    | Claude Opus    | Best reasoning</a:t>
            </a:r>
          </a:p>
          <a:p>
            <a:pPr>
              <a:defRPr sz="1800"/>
            </a:pPr>
            <a:r>
              <a:t>Code execution       | BioKernel      | Sandboxed runtime</a:t>
            </a:r>
          </a:p>
          <a:p>
            <a:pPr>
              <a:defRPr sz="1800"/>
            </a:pPr>
            <a:r>
              <a:t>Multi-step pipeline  | Claude Sonnet  | Good balance</a:t>
            </a:r>
          </a:p>
          <a:p>
            <a:pPr>
              <a:defRPr sz="1800"/>
            </a:pPr>
            <a:r>
              <a:t>Privacy-sensitive    | Local model    | No data leaves</a:t>
            </a:r>
          </a:p>
          <a:p>
            <a:pPr>
              <a:defRPr sz="1800"/>
            </a:pPr>
            <a:r>
              <a:t>[LIGHTBULB] Optimal performance without manual configuration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Optimizer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AI-POWERED OPTIMIZATION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[OPTIMIZATION FLOW]</a:t>
            </a:r>
          </a:p>
          <a:p>
            <a:pPr>
              <a:defRPr sz="1800"/>
            </a:pPr>
            <a:r>
              <a:t>USDL Prompt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▼</a:t>
            </a:r>
          </a:p>
          <a:p>
            <a:pPr>
              <a:defRPr sz="1800"/>
            </a:pPr>
            <a:r>
              <a:t>┌─────────────────────┐</a:t>
            </a:r>
          </a:p>
          <a:p>
            <a:pPr>
              <a:defRPr sz="1800"/>
            </a:pPr>
            <a:r>
              <a:t>│  Meta-Prompter AI   │</a:t>
            </a:r>
          </a:p>
          <a:p>
            <a:pPr>
              <a:defRPr sz="1800"/>
            </a:pPr>
            <a:r>
              <a:t>│  (Optimization)     │</a:t>
            </a:r>
          </a:p>
          <a:p>
            <a:pPr>
              <a:defRPr sz="1800"/>
            </a:pPr>
            <a:r>
              <a:t>└─────────┬───────────┘</a:t>
            </a:r>
          </a:p>
          <a:p>
            <a:pPr>
              <a:defRPr sz="1800"/>
            </a:pPr>
            <a:r>
              <a:t>│</a:t>
            </a:r>
          </a:p>
          <a:p>
            <a:pPr>
              <a:defRPr sz="1800"/>
            </a:pPr>
            <a:r>
              <a:t>┌─────┴─────┐</a:t>
            </a:r>
          </a:p>
          <a:p>
            <a:pPr>
              <a:defRPr sz="1800"/>
            </a:pPr>
            <a:r>
              <a:t>▼           ▼</a:t>
            </a:r>
          </a:p>
          <a:p>
            <a:pPr>
              <a:defRPr sz="1800"/>
            </a:pPr>
            <a:r>
              <a:t>┌───────┐   ┌───────┐</a:t>
            </a:r>
          </a:p>
          <a:p>
            <a:pPr>
              <a:defRPr sz="1800"/>
            </a:pPr>
            <a:r>
              <a:t>│Claude │   │OpenAI │   ← Platform-specific</a:t>
            </a:r>
          </a:p>
          <a:p>
            <a:pPr>
              <a:defRPr sz="1800"/>
            </a:pPr>
            <a:r>
              <a:t>│Version│   │Version│      best practices</a:t>
            </a:r>
          </a:p>
          <a:p>
            <a:pPr>
              <a:defRPr sz="1800"/>
            </a:pPr>
            <a:r>
              <a:t>└───────┘   └───────┘</a:t>
            </a:r>
          </a:p>
          <a:p>
            <a:pPr>
              <a:defRPr sz="1800"/>
            </a:pPr>
            <a:r>
              <a:t>[EXAMPLES]</a:t>
            </a:r>
          </a:p>
          <a:p>
            <a:pPr>
              <a:defRPr sz="1800"/>
            </a:pPr>
            <a:r>
              <a:t>Claude: Add XML tags, use prefilling</a:t>
            </a:r>
          </a:p>
          <a:p>
            <a:pPr>
              <a:defRPr sz="1800"/>
            </a:pPr>
            <a:r>
              <a:t>OpenAI: Concise system messages, JSON outputs</a:t>
            </a:r>
          </a:p>
          <a:p>
            <a:pPr>
              <a:defRPr sz="1800"/>
            </a:pPr>
            <a:r>
              <a:t>Gemini: Long-context optimization, grounding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Evaluator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CROSS-PLATFORM EVALUATION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[RESULTS TABLE]</a:t>
            </a:r>
          </a:p>
          <a:p>
            <a:pPr>
              <a:defRPr sz="1800"/>
            </a:pPr>
            <a:r>
              <a:t>$ python cli.py test examples/skill.yaml --all-platforms</a:t>
            </a:r>
          </a:p>
          <a:p>
            <a:pPr>
              <a:defRPr sz="1800"/>
            </a:pPr>
            <a:r>
              <a:t>Platform     | Accuracy | Latency | Cost/1K</a:t>
            </a:r>
          </a:p>
          <a:p>
            <a:pPr>
              <a:defRPr sz="1800"/>
            </a:pPr>
            <a:r>
              <a:t>-------------|----------|---------|--------</a:t>
            </a:r>
          </a:p>
          <a:p>
            <a:pPr>
              <a:defRPr sz="1800"/>
            </a:pPr>
            <a:r>
              <a:t>Claude 3.5   | 98.2%    | 2.3s    | $0.018</a:t>
            </a:r>
          </a:p>
          <a:p>
            <a:pPr>
              <a:defRPr sz="1800"/>
            </a:pPr>
            <a:r>
              <a:t>GPT-4o       | 96.8%    | 3.1s    | $0.025</a:t>
            </a:r>
          </a:p>
          <a:p>
            <a:pPr>
              <a:defRPr sz="1800"/>
            </a:pPr>
            <a:r>
              <a:t>Gemini Pro   | 94.5%    | 1.8s    | $0.007</a:t>
            </a:r>
          </a:p>
          <a:p>
            <a:pPr>
              <a:defRPr sz="1800"/>
            </a:pPr>
            <a:r>
              <a:t>[CHART ICON] Make informed deployment decisions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New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CREATE YOUR OWN SKILL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[5 STEPS]</a:t>
            </a:r>
          </a:p>
          <a:p>
            <a:pPr>
              <a:defRPr sz="1800"/>
            </a:pPr>
            <a:r>
              <a:t>1. COPY TEMPLATE</a:t>
            </a:r>
          </a:p>
          <a:p>
            <a:pPr>
              <a:defRPr sz="1800"/>
            </a:pPr>
            <a:r>
              <a:t>cp examples/template.yaml my_skill.yaml</a:t>
            </a:r>
          </a:p>
          <a:p>
            <a:pPr>
              <a:defRPr sz="1800"/>
            </a:pPr>
            <a:r>
              <a:t>2. DEFINE METADATA</a:t>
            </a:r>
          </a:p>
          <a:p>
            <a:pPr>
              <a:defRPr sz="1800"/>
            </a:pPr>
            <a:r>
              <a:t>id, name, version, domain</a:t>
            </a:r>
          </a:p>
          <a:p>
            <a:pPr>
              <a:defRPr sz="1800"/>
            </a:pPr>
            <a:r>
              <a:t>3. WRITE CAPABILITIES</a:t>
            </a:r>
          </a:p>
          <a:p>
            <a:pPr>
              <a:defRPr sz="1800"/>
            </a:pPr>
            <a:r>
              <a:t>inputs, outputs, descriptions</a:t>
            </a:r>
          </a:p>
          <a:p>
            <a:pPr>
              <a:defRPr sz="1800"/>
            </a:pPr>
            <a:r>
              <a:t>4. CREATE PROMPTS</a:t>
            </a:r>
          </a:p>
          <a:p>
            <a:pPr>
              <a:defRPr sz="1800"/>
            </a:pPr>
            <a:r>
              <a:t>system instructions, user templates</a:t>
            </a:r>
          </a:p>
          <a:p>
            <a:pPr>
              <a:defRPr sz="1800"/>
            </a:pPr>
            <a:r>
              <a:t>5. VALIDATE &amp; BUILD</a:t>
            </a:r>
          </a:p>
          <a:p>
            <a:pPr>
              <a:defRPr sz="1800"/>
            </a:pPr>
            <a:r>
              <a:t>python cli.py validate my_skill.yaml</a:t>
            </a:r>
          </a:p>
          <a:p>
            <a:pPr>
              <a:defRPr sz="1800"/>
            </a:pPr>
            <a:r>
              <a:t>python cli.py build --platform claude my_skill.yaml</a:t>
            </a:r>
          </a:p>
          <a:p>
            <a:pPr>
              <a:defRPr sz="1800"/>
            </a:pPr>
            <a:r>
              <a:t>[ROCKET] Your skill is ready for deployment!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# VIDEO 6 SLIDES: Skills Overview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COMPLETE SKILLS LIBRARY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Six Production-Ready Biomedical AI Skills</a:t>
            </a:r>
          </a:p>
          <a:p>
            <a:pPr>
              <a:defRPr sz="1800"/>
            </a:pPr>
            <a:r>
              <a:t>[GRID OF 6 ICONS]</a:t>
            </a:r>
          </a:p>
          <a:p>
            <a:pPr>
              <a:defRPr sz="1800"/>
            </a:pPr>
            <a:r>
              <a:t>Video 6 of 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SKILLS LIBRARY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[3x2 GRID]</a:t>
            </a:r>
          </a:p>
          <a:p>
            <a:pPr>
              <a:defRPr sz="1800"/>
            </a:pPr>
            <a:r>
              <a:t>┌─────────────────┬─────────────────┐</a:t>
            </a:r>
          </a:p>
          <a:p>
            <a:pPr>
              <a:defRPr sz="1800"/>
            </a:pPr>
            <a:r>
              <a:t>│    CLINICAL     │    CLINICAL     │</a:t>
            </a:r>
          </a:p>
          <a:p>
            <a:pPr>
              <a:defRPr sz="1800"/>
            </a:pPr>
            <a:r>
              <a:t>│  Note Summary   │ Trial Matching  │</a:t>
            </a:r>
          </a:p>
          <a:p>
            <a:pPr>
              <a:defRPr sz="1800"/>
            </a:pPr>
            <a:r>
              <a:t>│   [Document]    │    [People]     │</a:t>
            </a:r>
          </a:p>
          <a:p>
            <a:pPr>
              <a:defRPr sz="1800"/>
            </a:pPr>
            <a:r>
              <a:t>├─────────────────┼─────────────────┤</a:t>
            </a:r>
          </a:p>
          <a:p>
            <a:pPr>
              <a:defRPr sz="1800"/>
            </a:pPr>
            <a:r>
              <a:t>│    GENOMICS     │    GENOMICS     │</a:t>
            </a:r>
          </a:p>
          <a:p>
            <a:pPr>
              <a:defRPr sz="1800"/>
            </a:pPr>
            <a:r>
              <a:t>│   scRNA-seq     │  CRISPR Design  │</a:t>
            </a:r>
          </a:p>
          <a:p>
            <a:pPr>
              <a:defRPr sz="1800"/>
            </a:pPr>
            <a:r>
              <a:t>│   [Cell Icon]   │   [Scissors]    │</a:t>
            </a:r>
          </a:p>
          <a:p>
            <a:pPr>
              <a:defRPr sz="1800"/>
            </a:pPr>
            <a:r>
              <a:t>├─────────────────┼─────────────────┤</a:t>
            </a:r>
          </a:p>
          <a:p>
            <a:pPr>
              <a:defRPr sz="1800"/>
            </a:pPr>
            <a:r>
              <a:t>│ DRUG DISCOVERY  │ DRUG DISCOVERY  │</a:t>
            </a:r>
          </a:p>
          <a:p>
            <a:pPr>
              <a:defRPr sz="1800"/>
            </a:pPr>
            <a:r>
              <a:t>│   Mol Props     │    AgentD       │</a:t>
            </a:r>
          </a:p>
          <a:p>
            <a:pPr>
              <a:defRPr sz="1800"/>
            </a:pPr>
            <a:r>
              <a:t>│  [Molecule]     │   [Pipeline]    │</a:t>
            </a:r>
          </a:p>
          <a:p>
            <a:pPr>
              <a:defRPr sz="1800"/>
            </a:pPr>
            <a:r>
              <a:t>└─────────────────┴─────────────────┘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Note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CLINICAL NOTE SUMMARIZATION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[SKILL ICON: Document with checkmark]</a:t>
            </a:r>
          </a:p>
          <a:p>
            <a:pPr>
              <a:defRPr sz="1800"/>
            </a:pPr>
            <a:r>
              <a:t>Purpose: Convert unstructured notes → SOAP format</a:t>
            </a:r>
          </a:p>
          <a:p>
            <a:pPr>
              <a:defRPr sz="1800"/>
            </a:pPr>
            <a:r>
              <a:t>[BEFORE/AFTER COMPARISON]</a:t>
            </a:r>
          </a:p>
          <a:p>
            <a:pPr>
              <a:defRPr sz="1800"/>
            </a:pPr>
            <a:r>
              <a:t>BEFORE (Raw Note)           AFTER (SOAP)</a:t>
            </a:r>
          </a:p>
          <a:p>
            <a:pPr>
              <a:defRPr sz="1800"/>
            </a:pPr>
            <a:r>
              <a:t>─────────────────           ────────────</a:t>
            </a:r>
          </a:p>
          <a:p>
            <a:pPr>
              <a:defRPr sz="1800"/>
            </a:pPr>
            <a:r>
              <a:t>"58yo male c/o             SUBJECTIVE:</a:t>
            </a:r>
          </a:p>
          <a:p>
            <a:pPr>
              <a:defRPr sz="1800"/>
            </a:pPr>
            <a:r>
              <a:t>chest pain x3d,            • 58-year-old male</a:t>
            </a:r>
          </a:p>
          <a:p>
            <a:pPr>
              <a:defRPr sz="1800"/>
            </a:pPr>
            <a:r>
              <a:t>worse w/ exertion,         • Chest pain 3 days</a:t>
            </a:r>
          </a:p>
          <a:p>
            <a:pPr>
              <a:defRPr sz="1800"/>
            </a:pPr>
            <a:r>
              <a:t>denies SOB..."             • Worse with exertion</a:t>
            </a:r>
          </a:p>
          <a:p>
            <a:pPr>
              <a:defRPr sz="1800"/>
            </a:pPr>
            <a:r>
              <a:t>Use Cases:</a:t>
            </a:r>
          </a:p>
          <a:p>
            <a:pPr>
              <a:defRPr sz="1800"/>
            </a:pPr>
            <a:r>
              <a:t>Automated medical scribing</a:t>
            </a:r>
          </a:p>
          <a:p>
            <a:pPr>
              <a:defRPr sz="1800"/>
            </a:pPr>
            <a:r>
              <a:t>EHR standardization</a:t>
            </a:r>
          </a:p>
          <a:p>
            <a:pPr>
              <a:defRPr sz="1800"/>
            </a:pPr>
            <a:r>
              <a:t>Quality audits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Trial Eligibility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TRIAL ELIGIBILITY AGENT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[SKILL ICON: People matching]</a:t>
            </a:r>
          </a:p>
          <a:p>
            <a:pPr>
              <a:defRPr sz="1800"/>
            </a:pPr>
            <a:r>
              <a:t>Purpose: Match patients to clinical trials</a:t>
            </a:r>
          </a:p>
          <a:p>
            <a:pPr>
              <a:defRPr sz="1800"/>
            </a:pPr>
            <a:r>
              <a:t>[WORKFLOW]</a:t>
            </a:r>
          </a:p>
          <a:p>
            <a:pPr>
              <a:defRPr sz="1800"/>
            </a:pPr>
            <a:r>
              <a:t>Patient Data  →  Criteria   →  Eligibility</a:t>
            </a:r>
          </a:p>
          <a:p>
            <a:pPr>
              <a:defRPr sz="1800"/>
            </a:pPr>
            <a:r>
              <a:t>Matching      Report</a:t>
            </a:r>
          </a:p>
          <a:p>
            <a:pPr>
              <a:defRPr sz="1800"/>
            </a:pPr>
            <a:r>
              <a:t>┌──────────┐    ┌──────────┐    ┌──────────┐</a:t>
            </a:r>
          </a:p>
          <a:p>
            <a:pPr>
              <a:defRPr sz="1800"/>
            </a:pPr>
            <a:r>
              <a:t>│ Age: 54  │    │ Age 18-65│    │✓ ELIGIBLE│</a:t>
            </a:r>
          </a:p>
          <a:p>
            <a:pPr>
              <a:defRPr sz="1800"/>
            </a:pPr>
            <a:r>
              <a:t>│ T2D      │ →  │ Has T2D  │ →  │          │</a:t>
            </a:r>
          </a:p>
          <a:p>
            <a:pPr>
              <a:defRPr sz="1800"/>
            </a:pPr>
            <a:r>
              <a:t>│ HbA1c 8.2│    │ HbA1c 7-10    │ Meets all│</a:t>
            </a:r>
          </a:p>
          <a:p>
            <a:pPr>
              <a:defRPr sz="1800"/>
            </a:pPr>
            <a:r>
              <a:t>└──────────┘    └──────────┘    │ criteria │</a:t>
            </a:r>
          </a:p>
          <a:p>
            <a:pPr>
              <a:defRPr sz="1800"/>
            </a:pPr>
            <a:r>
              <a:t>└──────────┘</a:t>
            </a:r>
          </a:p>
          <a:p>
            <a:pPr>
              <a:defRPr sz="1800"/>
            </a:pPr>
            <a:r>
              <a:t>[BADGE: HIPAA-aware design]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scRNA-seq QC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SINGLE-CELL RNA-seq QC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[SKILL ICON: Cell with checkmark]</a:t>
            </a:r>
          </a:p>
          <a:p>
            <a:pPr>
              <a:defRPr sz="1800"/>
            </a:pPr>
            <a:r>
              <a:t>Purpose: Quality control for single-cell data</a:t>
            </a:r>
          </a:p>
          <a:p>
            <a:pPr>
              <a:defRPr sz="1800"/>
            </a:pPr>
            <a:r>
              <a:t>[METRICS TABLE]</a:t>
            </a:r>
          </a:p>
          <a:p>
            <a:pPr>
              <a:defRPr sz="1800"/>
            </a:pPr>
            <a:r>
              <a:t>Metric          | Meaning              | Threshold</a:t>
            </a:r>
          </a:p>
          <a:p>
            <a:pPr>
              <a:defRPr sz="1800"/>
            </a:pPr>
            <a:r>
              <a:t>----------------|----------------------|------------</a:t>
            </a:r>
          </a:p>
          <a:p>
            <a:pPr>
              <a:defRPr sz="1800"/>
            </a:pPr>
            <a:r>
              <a:t>total_counts    | UMIs per cell        | MAD-based</a:t>
            </a:r>
          </a:p>
          <a:p>
            <a:pPr>
              <a:defRPr sz="1800"/>
            </a:pPr>
            <a:r>
              <a:t>n_genes         | Genes detected       | MAD-based</a:t>
            </a:r>
          </a:p>
          <a:p>
            <a:pPr>
              <a:defRPr sz="1800"/>
            </a:pPr>
            <a:r>
              <a:t>pct_mt          | Mitochondrial %      | &lt; 20%</a:t>
            </a:r>
          </a:p>
          <a:p>
            <a:pPr>
              <a:defRPr sz="1800"/>
            </a:pPr>
            <a:r>
              <a:t>Removes:</a:t>
            </a:r>
          </a:p>
          <a:p>
            <a:pPr>
              <a:defRPr sz="1800"/>
            </a:pPr>
            <a:r>
              <a:t>Empty droplets</a:t>
            </a:r>
          </a:p>
          <a:p>
            <a:pPr>
              <a:defRPr sz="1800"/>
            </a:pPr>
            <a:r>
              <a:t>Dying cells</a:t>
            </a:r>
          </a:p>
          <a:p>
            <a:pPr>
              <a:defRPr sz="1800"/>
            </a:pPr>
            <a:r>
              <a:t>Doublets</a:t>
            </a:r>
          </a:p>
          <a:p>
            <a:pPr>
              <a:defRPr sz="1800"/>
            </a:pPr>
            <a:r>
              <a:t>[OUTPUT: Clean dataset + QC visualizations]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CRISPR Design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CRISPR DESIGN AGENT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[SKILL ICON: Scissors + DNA]</a:t>
            </a:r>
          </a:p>
          <a:p>
            <a:pPr>
              <a:defRPr sz="1800"/>
            </a:pPr>
            <a:r>
              <a:t>Purpose: Automate guide RNA design</a:t>
            </a:r>
          </a:p>
          <a:p>
            <a:pPr>
              <a:defRPr sz="1800"/>
            </a:pPr>
            <a:r>
              <a:t>[WORKFLOW]</a:t>
            </a:r>
          </a:p>
          <a:p>
            <a:pPr>
              <a:defRPr sz="1800"/>
            </a:pPr>
            <a:r>
              <a:t>Target Gene → PAM Sites → sgRNA Design → Off-target</a:t>
            </a:r>
          </a:p>
          <a:p>
            <a:pPr>
              <a:defRPr sz="1800"/>
            </a:pPr>
            <a:r>
              <a:t>(BRCA1)    (Find NGG)   (20nt guides)   Analysis</a:t>
            </a:r>
          </a:p>
          <a:p>
            <a:pPr>
              <a:defRPr sz="1800"/>
            </a:pPr>
            <a:r>
              <a:t>[EXAMPLE OUTPUT]</a:t>
            </a:r>
          </a:p>
          <a:p>
            <a:pPr>
              <a:defRPr sz="1800"/>
            </a:pPr>
            <a:r>
              <a:t>Top Guide: GCAGTGAAGAGATGCCGCTT</a:t>
            </a:r>
          </a:p>
          <a:p>
            <a:pPr>
              <a:defRPr sz="1800"/>
            </a:pPr>
            <a:r>
              <a:t>├── Position: Exon 11</a:t>
            </a:r>
          </a:p>
          <a:p>
            <a:pPr>
              <a:defRPr sz="1800"/>
            </a:pPr>
            <a:r>
              <a:t>├── On-target score: 0.87</a:t>
            </a:r>
          </a:p>
          <a:p>
            <a:pPr>
              <a:defRPr sz="1800"/>
            </a:pPr>
            <a:r>
              <a:t>├── Off-targets: 0 in exons</a:t>
            </a:r>
          </a:p>
          <a:p>
            <a:pPr>
              <a:defRPr sz="1800"/>
            </a:pPr>
            <a:r>
              <a:t>└── Recommendation: EXCELLENT</a:t>
            </a:r>
          </a:p>
          <a:p>
            <a:pPr>
              <a:defRPr sz="1800"/>
            </a:pPr>
            <a:r>
              <a:t>Supports: SpCas9, SaCas9, Cas12a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Chemical Property Lookup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CHEMICAL PROPERTY LOOKUP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[SKILL ICON: Molecule structure]</a:t>
            </a:r>
          </a:p>
          <a:p>
            <a:pPr>
              <a:defRPr sz="1800"/>
            </a:pPr>
            <a:r>
              <a:t>Purpose: Calculate molecular properties (RDKit)</a:t>
            </a:r>
          </a:p>
          <a:p>
            <a:pPr>
              <a:defRPr sz="1800"/>
            </a:pPr>
            <a:r>
              <a:t>[CAPABILITIES]</a:t>
            </a:r>
          </a:p>
          <a:p>
            <a:pPr>
              <a:defRPr sz="1800"/>
            </a:pPr>
            <a:r>
              <a:t>Molecular weight</a:t>
            </a:r>
          </a:p>
          <a:p>
            <a:pPr>
              <a:defRPr sz="1800"/>
            </a:pPr>
            <a:r>
              <a:t>LogP (lipophilicity)</a:t>
            </a:r>
          </a:p>
          <a:p>
            <a:pPr>
              <a:defRPr sz="1800"/>
            </a:pPr>
            <a:r>
              <a:t>H-bond donors/acceptors</a:t>
            </a:r>
          </a:p>
          <a:p>
            <a:pPr>
              <a:defRPr sz="1800"/>
            </a:pPr>
            <a:r>
              <a:t>Rotatable bonds</a:t>
            </a:r>
          </a:p>
          <a:p>
            <a:pPr>
              <a:defRPr sz="1800"/>
            </a:pPr>
            <a:r>
              <a:t>TPSA</a:t>
            </a:r>
          </a:p>
          <a:p>
            <a:pPr>
              <a:defRPr sz="1800"/>
            </a:pPr>
            <a:r>
              <a:t>Lipinski Rule of 5</a:t>
            </a:r>
          </a:p>
          <a:p>
            <a:pPr>
              <a:defRPr sz="1800"/>
            </a:pPr>
            <a:r>
              <a:t>[EXAMPLE: Aspirin]</a:t>
            </a:r>
          </a:p>
          <a:p>
            <a:pPr>
              <a:defRPr sz="1800"/>
            </a:pPr>
            <a:r>
              <a:t>MW: 180.16 g/mol</a:t>
            </a:r>
          </a:p>
          <a:p>
            <a:pPr>
              <a:defRPr sz="1800"/>
            </a:pPr>
            <a:r>
              <a:t>LogP: 1.19</a:t>
            </a:r>
          </a:p>
          <a:p>
            <a:pPr>
              <a:defRPr sz="1800"/>
            </a:pPr>
            <a:r>
              <a:t>Lipinski: PASSES ✓</a:t>
            </a:r>
          </a:p>
          <a:p>
            <a:pPr>
              <a:defRPr sz="1800"/>
            </a:pPr>
            <a:r>
              <a:t>[USE: Agent tool for chemistry queries]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AgentD Drug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AGENTD: DRUG DISCOVERY PIPELINE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[SKILL ICON: Multi-step pipeline]</a:t>
            </a:r>
          </a:p>
          <a:p>
            <a:pPr>
              <a:defRPr sz="1800"/>
            </a:pPr>
            <a:r>
              <a:t>Purpose: End-to-end drug discovery workflow</a:t>
            </a:r>
          </a:p>
          <a:p>
            <a:pPr>
              <a:defRPr sz="1800"/>
            </a:pPr>
            <a:r>
              <a:t>[PIPELINE STEPS]</a:t>
            </a:r>
          </a:p>
          <a:p>
            <a:pPr>
              <a:defRPr sz="1800"/>
            </a:pPr>
            <a:r>
              <a:t>1. Literature    2. Compound     3. Molecule</a:t>
            </a:r>
          </a:p>
          <a:p>
            <a:pPr>
              <a:defRPr sz="1800"/>
            </a:pPr>
            <a:r>
              <a:t>Mining           Retrieval       Generation</a:t>
            </a:r>
          </a:p>
          <a:p>
            <a:pPr>
              <a:defRPr sz="1800"/>
            </a:pPr>
            <a:r>
              <a:t>[PubMed]        [ChEMBL]        [AI Design]</a:t>
            </a:r>
          </a:p>
          <a:p>
            <a:pPr>
              <a:defRPr sz="1800"/>
            </a:pPr>
            <a:r>
              <a:t>│               │                │</a:t>
            </a:r>
          </a:p>
          <a:p>
            <a:pPr>
              <a:defRPr sz="1800"/>
            </a:pPr>
            <a:r>
              <a:t>└───────────────┼────────────────┘</a:t>
            </a:r>
          </a:p>
          <a:p>
            <a:pPr>
              <a:defRPr sz="1800"/>
            </a:pPr>
            <a:r>
              <a:t>▼</a:t>
            </a:r>
          </a:p>
          <a:p>
            <a:pPr>
              <a:defRPr sz="1800"/>
            </a:pPr>
            <a:r>
              <a:t>4. ADMET         5. Docking</a:t>
            </a:r>
          </a:p>
          <a:p>
            <a:pPr>
              <a:defRPr sz="1800"/>
            </a:pPr>
            <a:r>
              <a:t>Prediction       Preparation</a:t>
            </a:r>
          </a:p>
          <a:p>
            <a:pPr>
              <a:defRPr sz="1800"/>
            </a:pPr>
            <a:r>
              <a:t>[Properties]     [3D Structure]</a:t>
            </a:r>
          </a:p>
          <a:p>
            <a:pPr>
              <a:defRPr sz="1800"/>
            </a:pPr>
            <a:r>
              <a:t>[INTEGRATIONS: PubMed, ChEMBL, PubChem, RDKit]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SKILLS SUMMARY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[SUMMARY TABLE]</a:t>
            </a:r>
          </a:p>
          <a:p>
            <a:pPr>
              <a:defRPr sz="1800"/>
            </a:pPr>
            <a:r>
              <a:t>Skill               | Domain    | Status     | Platforms</a:t>
            </a:r>
          </a:p>
          <a:p>
            <a:pPr>
              <a:defRPr sz="1800"/>
            </a:pPr>
            <a:r>
              <a:t>--------------------|-----------|------------|------------</a:t>
            </a:r>
          </a:p>
          <a:p>
            <a:pPr>
              <a:defRPr sz="1800"/>
            </a:pPr>
            <a:r>
              <a:t>Note Summarization  | Clinical  | Production | All</a:t>
            </a:r>
          </a:p>
          <a:p>
            <a:pPr>
              <a:defRPr sz="1800"/>
            </a:pPr>
            <a:r>
              <a:t>Trial Eligibility   | Clinical  | Beta       | All</a:t>
            </a:r>
          </a:p>
          <a:p>
            <a:pPr>
              <a:defRPr sz="1800"/>
            </a:pPr>
            <a:r>
              <a:t>scRNA-seq QC        | Genomics  | Production | All</a:t>
            </a:r>
          </a:p>
          <a:p>
            <a:pPr>
              <a:defRPr sz="1800"/>
            </a:pPr>
            <a:r>
              <a:t>CRISPR Design       | Genomics  | Beta       | All</a:t>
            </a:r>
          </a:p>
          <a:p>
            <a:pPr>
              <a:defRPr sz="1800"/>
            </a:pPr>
            <a:r>
              <a:t>Chemical Props      | Drug Disc | Production | All</a:t>
            </a:r>
          </a:p>
          <a:p>
            <a:pPr>
              <a:defRPr sz="1800"/>
            </a:pPr>
            <a:r>
              <a:t>AgentD Pipeline     | Drug Disc | Beta       | All</a:t>
            </a:r>
          </a:p>
          <a:p>
            <a:pPr>
              <a:defRPr sz="1800"/>
            </a:pPr>
            <a:r>
              <a:t>[6 skills | 3 domains | 4+ platforms]</a:t>
            </a:r>
          </a:p>
          <a:p>
            <a:pPr>
              <a:defRPr sz="1800"/>
            </a:pPr>
            <a:r>
              <a:t>Library is growing. Contributions welcome!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# VIDEO 7 SLIDES: Research Paper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SCIENCE BEHIND</a:t>
            </a:r>
          </a:p>
          <a:p>
            <a:pPr>
              <a:defRPr sz="1800"/>
            </a:pPr>
            <a:r>
              <a:t>UNIVERSAL BIOMEDICAL SKILLS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 Platform-Agnostic Framework for Deploying</a:t>
            </a:r>
          </a:p>
          <a:p>
            <a:pPr>
              <a:defRPr sz="1800"/>
            </a:pPr>
            <a:r>
              <a:t>AI Assistants Across Multiple LLMs</a:t>
            </a:r>
          </a:p>
          <a:p>
            <a:pPr>
              <a:defRPr sz="1800"/>
            </a:pPr>
            <a:r>
              <a:t>[ACADEMIC PAPER ICON]</a:t>
            </a:r>
          </a:p>
          <a:p>
            <a:pPr>
              <a:defRPr sz="1800"/>
            </a:pPr>
            <a:r>
              <a:t>Video 7 of 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RESEARCH MOTIVATION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[PROBLEM STATEMENT]</a:t>
            </a:r>
          </a:p>
          <a:p>
            <a:pPr>
              <a:defRPr sz="1800"/>
            </a:pPr>
            <a:r>
              <a:t>Current State:</a:t>
            </a:r>
          </a:p>
          <a:p>
            <a:pPr>
              <a:defRPr sz="1800"/>
            </a:pPr>
            <a:r>
              <a:t>LLM adoption in biomedicine is accelerating</a:t>
            </a:r>
          </a:p>
          <a:p>
            <a:pPr>
              <a:defRPr sz="1800"/>
            </a:pPr>
            <a:r>
              <a:t>Each platform requires different implementation</a:t>
            </a:r>
          </a:p>
          <a:p>
            <a:pPr>
              <a:defRPr sz="1800"/>
            </a:pPr>
            <a:r>
              <a:t>Skills cannot be shared across institutions</a:t>
            </a:r>
          </a:p>
          <a:p>
            <a:pPr>
              <a:defRPr sz="1800"/>
            </a:pPr>
            <a:r>
              <a:t>Significant duplicated effort</a:t>
            </a:r>
          </a:p>
          <a:p>
            <a:pPr>
              <a:defRPr sz="1800"/>
            </a:pPr>
            <a:r>
              <a:t>Research Questions:</a:t>
            </a:r>
          </a:p>
          <a:p>
            <a:pPr>
              <a:defRPr sz="1800"/>
            </a:pPr>
            <a:r>
              <a:t>1. Can we define skills in a platform-neutral format?</a:t>
            </a:r>
          </a:p>
          <a:p>
            <a:pPr>
              <a:defRPr sz="1800"/>
            </a:pPr>
            <a:r>
              <a:t>2. Can automatic conversion maintain performance?</a:t>
            </a:r>
          </a:p>
          <a:p>
            <a:pPr>
              <a:defRPr sz="1800"/>
            </a:pPr>
            <a:r>
              <a:t>3. What infrastructure enables practical deployment?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METHODS OVERVIEW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[THREE PILLARS]</a:t>
            </a:r>
          </a:p>
          <a:p>
            <a:pPr>
              <a:defRPr sz="1800"/>
            </a:pPr>
            <a:r>
              <a:t>USDL                 ADAPTERS             BIOKERNEL</a:t>
            </a:r>
          </a:p>
          <a:p>
            <a:pPr>
              <a:defRPr sz="1800"/>
            </a:pPr>
            <a:r>
              <a:t>─────────────         ─────────────         ─────────────</a:t>
            </a:r>
          </a:p>
          <a:p>
            <a:pPr>
              <a:defRPr sz="1800"/>
            </a:pPr>
            <a:r>
              <a:t>Standardized          Automatic             Intelligent</a:t>
            </a:r>
          </a:p>
          <a:p>
            <a:pPr>
              <a:defRPr sz="1800"/>
            </a:pPr>
            <a:r>
              <a:t>schema for            conversion to         runtime with</a:t>
            </a:r>
          </a:p>
          <a:p>
            <a:pPr>
              <a:defRPr sz="1800"/>
            </a:pPr>
            <a:r>
              <a:t>skill definition      each platform         optimal routing</a:t>
            </a:r>
          </a:p>
          <a:p>
            <a:pPr>
              <a:defRPr sz="1800"/>
            </a:pPr>
            <a:r>
              <a:t>[YAML Icon]           [Transform Icon]      [Brain Icon]</a:t>
            </a:r>
          </a:p>
          <a:p>
            <a:pPr>
              <a:defRPr sz="1800"/>
            </a:pPr>
            <a:r>
              <a:t>Cross-Platform Validation:</a:t>
            </a:r>
          </a:p>
          <a:p>
            <a:pPr>
              <a:defRPr sz="1800"/>
            </a:pPr>
            <a:r>
              <a:t>6 skills tested on Claude, GPT-4o, Gemini</a:t>
            </a:r>
          </a:p>
          <a:p>
            <a:pPr>
              <a:defRPr sz="1800"/>
            </a:pPr>
            <a:r>
              <a:t>Accuracy, latency, cost metrics collected</a:t>
            </a:r>
          </a:p>
          <a:p>
            <a:pPr>
              <a:defRPr sz="1800"/>
            </a:pPr>
            <a:r>
              <a:t>Semantic equivalence evaluated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USDL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USDL DESIGN PRINCIPLES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[FOUR PRINCIPLES]</a:t>
            </a:r>
          </a:p>
          <a:p>
            <a:pPr>
              <a:defRPr sz="1800"/>
            </a:pPr>
            <a:r>
              <a:t>1. EXPRESSIVENESS</a:t>
            </a:r>
          </a:p>
          <a:p>
            <a:pPr>
              <a:defRPr sz="1800"/>
            </a:pPr>
            <a:r>
              <a:t>Capture full range of biomedical AI capabilities</a:t>
            </a:r>
          </a:p>
          <a:p>
            <a:pPr>
              <a:defRPr sz="1800"/>
            </a:pPr>
            <a:r>
              <a:t>2. PLATFORM NEUTRALITY</a:t>
            </a:r>
          </a:p>
          <a:p>
            <a:pPr>
              <a:defRPr sz="1800"/>
            </a:pPr>
            <a:r>
              <a:t>No vendor-specific constructs in core schema</a:t>
            </a:r>
          </a:p>
          <a:p>
            <a:pPr>
              <a:defRPr sz="1800"/>
            </a:pPr>
            <a:r>
              <a:t>3. VALIDATION</a:t>
            </a:r>
          </a:p>
          <a:p>
            <a:pPr>
              <a:defRPr sz="1800"/>
            </a:pPr>
            <a:r>
              <a:t>Machine-checkable correctness via JSON Schema</a:t>
            </a:r>
          </a:p>
          <a:p>
            <a:pPr>
              <a:defRPr sz="1800"/>
            </a:pPr>
            <a:r>
              <a:t>4. EXTENSIBILITY</a:t>
            </a:r>
          </a:p>
          <a:p>
            <a:pPr>
              <a:defRPr sz="1800"/>
            </a:pPr>
            <a:r>
              <a:t>Support new platforms without schema changes</a:t>
            </a:r>
          </a:p>
          <a:p>
            <a:pPr>
              <a:defRPr sz="1800"/>
            </a:pPr>
            <a:r>
              <a:t>[SCHEMA ANALYSIS]</a:t>
            </a:r>
          </a:p>
          <a:p>
            <a:pPr>
              <a:defRPr sz="1800"/>
            </a:pPr>
            <a:r>
              <a:t>Analyzed 4 major platforms</a:t>
            </a:r>
          </a:p>
          <a:p>
            <a:pPr>
              <a:defRPr sz="1800"/>
            </a:pPr>
            <a:r>
              <a:t>Identified common abstractions</a:t>
            </a:r>
          </a:p>
          <a:p>
            <a:pPr>
              <a:defRPr sz="1800"/>
            </a:pPr>
            <a:r>
              <a:t>Unified in single representation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VALIDATION RESULTS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[RESULTS TABLE]</a:t>
            </a:r>
          </a:p>
          <a:p>
            <a:pPr>
              <a:defRPr sz="1800"/>
            </a:pPr>
            <a:r>
              <a:t>Claude    GPT-4o    Gemini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Note Summarization   96.2%    94.8%     93.1%</a:t>
            </a:r>
          </a:p>
          <a:p>
            <a:pPr>
              <a:defRPr sz="1800"/>
            </a:pPr>
            <a:r>
              <a:t>Trial Eligibility    91.5%    89.2%     87.8%</a:t>
            </a:r>
          </a:p>
          <a:p>
            <a:pPr>
              <a:defRPr sz="1800"/>
            </a:pPr>
            <a:r>
              <a:t>scRNA-seq QC         98.8%    97.4%     96.2%</a:t>
            </a:r>
          </a:p>
          <a:p>
            <a:pPr>
              <a:defRPr sz="1800"/>
            </a:pPr>
            <a:r>
              <a:t>CRISPR Design        94.3%    92.1%     90.5%</a:t>
            </a:r>
          </a:p>
          <a:p>
            <a:pPr>
              <a:defRPr sz="1800"/>
            </a:pPr>
            <a:r>
              <a:t>Chemical Properties  99.1%    98.7%     98.2%</a:t>
            </a:r>
          </a:p>
          <a:p>
            <a:pPr>
              <a:defRPr sz="1800"/>
            </a:pPr>
            <a:r>
              <a:t>AgentD Pipeline      88.4%    85.9%     82.3%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[KEY FINDING]</a:t>
            </a:r>
          </a:p>
          <a:p>
            <a:pPr>
              <a:defRPr sz="1800"/>
            </a:pPr>
            <a:r>
              <a:t>Performance variance &lt; 5% for 5 of 6 skills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SEMANTIC CONSISTENCY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[ANALYSIS]</a:t>
            </a:r>
          </a:p>
          <a:p>
            <a:pPr>
              <a:defRPr sz="1800"/>
            </a:pPr>
            <a:r>
              <a:t>Method:</a:t>
            </a:r>
          </a:p>
          <a:p>
            <a:pPr>
              <a:defRPr sz="1800"/>
            </a:pPr>
            <a:r>
              <a:t>Embedding similarity analysis</a:t>
            </a:r>
          </a:p>
          <a:p>
            <a:pPr>
              <a:defRPr sz="1800"/>
            </a:pPr>
            <a:r>
              <a:t>Human evaluation (n=3 reviewers)</a:t>
            </a:r>
          </a:p>
          <a:p>
            <a:pPr>
              <a:defRPr sz="1800"/>
            </a:pPr>
            <a:r>
              <a:t>Cross-platform output comparison</a:t>
            </a:r>
          </a:p>
          <a:p>
            <a:pPr>
              <a:defRPr sz="1800"/>
            </a:pPr>
            <a:r>
              <a:t>Results:</a:t>
            </a:r>
          </a:p>
          <a:p>
            <a:pPr>
              <a:defRPr sz="1800"/>
            </a:pPr>
            <a:r>
              <a:t>94.2% of outputs rated semantically equivalent</a:t>
            </a:r>
          </a:p>
          <a:p>
            <a:pPr>
              <a:defRPr sz="1800"/>
            </a:pPr>
            <a:r>
              <a:t>Differences primarily stylistic, not substantive</a:t>
            </a:r>
          </a:p>
          <a:p>
            <a:pPr>
              <a:defRPr sz="1800"/>
            </a:pPr>
            <a:r>
              <a:t>Clinical accuracy maintained across all platforms</a:t>
            </a:r>
          </a:p>
          <a:p>
            <a:pPr>
              <a:defRPr sz="1800"/>
            </a:pPr>
            <a:r>
              <a:t>[CHART: Embedding similarity distribution]</a:t>
            </a:r>
          </a:p>
          <a:p>
            <a:pPr>
              <a:defRPr sz="1800"/>
            </a:pPr>
            <a:r>
              <a:t>Conclusion: Platform choice doesn't affect scientific validity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scRNA-seq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CASE STUDY: scRNA-seq QC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[DETAILED RESULTS]</a:t>
            </a:r>
          </a:p>
          <a:p>
            <a:pPr>
              <a:defRPr sz="1800"/>
            </a:pPr>
            <a:r>
              <a:t>Dataset: GSE136112 (Bone Marrow)</a:t>
            </a:r>
          </a:p>
          <a:p>
            <a:pPr>
              <a:defRPr sz="1800"/>
            </a:pPr>
            <a:r>
              <a:t>Samples: 3 biological replicates</a:t>
            </a:r>
          </a:p>
          <a:p>
            <a:pPr>
              <a:defRPr sz="1800"/>
            </a:pPr>
            <a:r>
              <a:t>| Sample 1 | Sample 2 | Sample 3</a:t>
            </a:r>
          </a:p>
          <a:p>
            <a:pPr>
              <a:defRPr sz="1800"/>
            </a:pPr>
            <a:r>
              <a:t>-----------|----------|----------|----------</a:t>
            </a:r>
          </a:p>
          <a:p>
            <a:pPr>
              <a:defRPr sz="1800"/>
            </a:pPr>
            <a:r>
              <a:t>Input      | 8,412    | 7,891    | 9,104</a:t>
            </a:r>
          </a:p>
          <a:p>
            <a:pPr>
              <a:defRPr sz="1800"/>
            </a:pPr>
            <a:r>
              <a:t>Filtered   | 847      | 723      | 912</a:t>
            </a:r>
          </a:p>
          <a:p>
            <a:pPr>
              <a:defRPr sz="1800"/>
            </a:pPr>
            <a:r>
              <a:t>Rate       | 10.1%    | 9.2%     | 10.0%</a:t>
            </a:r>
          </a:p>
          <a:p>
            <a:pPr>
              <a:defRPr sz="1800"/>
            </a:pPr>
            <a:r>
              <a:t>Med. Genes | 2,847    | 2,912    | 2,756</a:t>
            </a:r>
          </a:p>
          <a:p>
            <a:pPr>
              <a:defRPr sz="1800"/>
            </a:pPr>
            <a:r>
              <a:t>Med. Mito  | 4.2%     | 3.8%     | 4.5%</a:t>
            </a:r>
          </a:p>
          <a:p>
            <a:pPr>
              <a:defRPr sz="1800"/>
            </a:pPr>
            <a:r>
              <a:t>[VALIDATION]</a:t>
            </a:r>
          </a:p>
          <a:p>
            <a:pPr>
              <a:defRPr sz="1800"/>
            </a:pPr>
            <a:r>
              <a:t>Filter rates consistent with published analyses</a:t>
            </a:r>
          </a:p>
          <a:p>
            <a:pPr>
              <a:defRPr sz="1800"/>
            </a:pPr>
            <a:r>
              <a:t>Biological conclusions unchanged across platforms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IMPLICATIONS FOR THE FIELD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[FOUR IMPLICATIONS]</a:t>
            </a:r>
          </a:p>
          <a:p>
            <a:pPr>
              <a:defRPr sz="1800"/>
            </a:pPr>
            <a:r>
              <a:t>1. REDUCED DEVELOPMENT BURDEN</a:t>
            </a:r>
          </a:p>
          <a:p>
            <a:pPr>
              <a:defRPr sz="1800"/>
            </a:pPr>
            <a:r>
              <a:t>Write skills once, deploy everywhere</a:t>
            </a:r>
          </a:p>
          <a:p>
            <a:pPr>
              <a:defRPr sz="1800"/>
            </a:pPr>
            <a:r>
              <a:t>2. INCREASED REPRODUCIBILITY</a:t>
            </a:r>
          </a:p>
          <a:p>
            <a:pPr>
              <a:defRPr sz="1800"/>
            </a:pPr>
            <a:r>
              <a:t>Consistent behavior enables better science</a:t>
            </a:r>
          </a:p>
          <a:p>
            <a:pPr>
              <a:defRPr sz="1800"/>
            </a:pPr>
            <a:r>
              <a:t>3. VENDOR INDEPENDENCE</a:t>
            </a:r>
          </a:p>
          <a:p>
            <a:pPr>
              <a:defRPr sz="1800"/>
            </a:pPr>
            <a:r>
              <a:t>Switch providers without losing investments</a:t>
            </a:r>
          </a:p>
          <a:p>
            <a:pPr>
              <a:defRPr sz="1800"/>
            </a:pPr>
            <a:r>
              <a:t>4. COLLABORATIVE POTENTIAL</a:t>
            </a:r>
          </a:p>
          <a:p>
            <a:pPr>
              <a:defRPr sz="1800"/>
            </a:pPr>
            <a:r>
              <a:t>Share skills across institutions</a:t>
            </a:r>
          </a:p>
          <a:p>
            <a:pPr>
              <a:defRPr sz="1800"/>
            </a:pPr>
            <a:r>
              <a:t>[QUOTE]</a:t>
            </a:r>
          </a:p>
          <a:p>
            <a:pPr>
              <a:defRPr sz="1800"/>
            </a:pPr>
            <a:r>
              <a:t>"Platform-agnostic development is both feasible and practical."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LIMITATIONS &amp; FUTURE WORK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LIMITATIONS:</a:t>
            </a:r>
          </a:p>
          <a:p>
            <a:pPr>
              <a:defRPr sz="1800"/>
            </a:pPr>
            <a:r>
              <a:t>Testing limited to 3 commercial platforms</a:t>
            </a:r>
          </a:p>
          <a:p>
            <a:pPr>
              <a:defRPr sz="1800"/>
            </a:pPr>
            <a:r>
              <a:t>Long-term model versioning not studied</a:t>
            </a:r>
          </a:p>
          <a:p>
            <a:pPr>
              <a:defRPr sz="1800"/>
            </a:pPr>
            <a:r>
              <a:t>Some advanced features may not map to USDL</a:t>
            </a:r>
          </a:p>
          <a:p>
            <a:pPr>
              <a:defRPr sz="1800"/>
            </a:pPr>
            <a:r>
              <a:t>FUTURE DIRECTIONS:</a:t>
            </a:r>
          </a:p>
          <a:p>
            <a:pPr>
              <a:defRPr sz="1800"/>
            </a:pPr>
            <a:r>
              <a:t>1. Expanded platform support</a:t>
            </a:r>
          </a:p>
          <a:p>
            <a:pPr>
              <a:defRPr sz="1800"/>
            </a:pPr>
            <a:r>
              <a:t>→ Azure OpenAI, Anthropic API, local models</a:t>
            </a:r>
          </a:p>
          <a:p>
            <a:pPr>
              <a:defRPr sz="1800"/>
            </a:pPr>
            <a:r>
              <a:t>2. Skill marketplace</a:t>
            </a:r>
          </a:p>
          <a:p>
            <a:pPr>
              <a:defRPr sz="1800"/>
            </a:pPr>
            <a:r>
              <a:t>→ Community repository with versioning</a:t>
            </a:r>
          </a:p>
          <a:p>
            <a:pPr>
              <a:defRPr sz="1800"/>
            </a:pPr>
            <a:r>
              <a:t>3. Automated optimization</a:t>
            </a:r>
          </a:p>
          <a:p>
            <a:pPr>
              <a:defRPr sz="1800"/>
            </a:pPr>
            <a:r>
              <a:t>→ AI-driven prompt tuning per platform</a:t>
            </a:r>
          </a:p>
          <a:p>
            <a:pPr>
              <a:defRPr sz="1800"/>
            </a:pPr>
            <a:r>
              <a:t>4. Regulatory pathway</a:t>
            </a:r>
          </a:p>
          <a:p>
            <a:pPr>
              <a:defRPr sz="1800"/>
            </a:pPr>
            <a:r>
              <a:t>→ FDA and compliance exploration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CONCLUSION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CONTRIBUTIONS:</a:t>
            </a:r>
          </a:p>
          <a:p>
            <a:pPr>
              <a:defRPr sz="1800"/>
            </a:pPr>
            <a:r>
              <a:t>[1] USDL</a:t>
            </a:r>
          </a:p>
          <a:p>
            <a:pPr>
              <a:defRPr sz="1800"/>
            </a:pPr>
            <a:r>
              <a:t>First standardized schema for biomedical AI skills</a:t>
            </a:r>
          </a:p>
          <a:p>
            <a:pPr>
              <a:defRPr sz="1800"/>
            </a:pPr>
            <a:r>
              <a:t>[2] MULTI-PLATFORM ADAPTERS</a:t>
            </a:r>
          </a:p>
          <a:p>
            <a:pPr>
              <a:defRPr sz="1800"/>
            </a:pPr>
            <a:r>
              <a:t>Automatic conversion with maintained accuracy</a:t>
            </a:r>
          </a:p>
          <a:p>
            <a:pPr>
              <a:defRPr sz="1800"/>
            </a:pPr>
            <a:r>
              <a:t>[3] VALIDATED LIBRARY</a:t>
            </a:r>
          </a:p>
          <a:p>
            <a:pPr>
              <a:defRPr sz="1800"/>
            </a:pPr>
            <a:r>
              <a:t>6 production skills with cross-platform testing</a:t>
            </a:r>
          </a:p>
          <a:p>
            <a:pPr>
              <a:defRPr sz="1800"/>
            </a:pPr>
            <a:r>
              <a:t>[4] OPEN-SOURCE RELEASE</a:t>
            </a:r>
          </a:p>
          <a:p>
            <a:pPr>
              <a:defRPr sz="1800"/>
            </a:pPr>
            <a:r>
              <a:t>Complete platform available for community use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"The fragmentation problem is solvable.</a:t>
            </a:r>
          </a:p>
          <a:p>
            <a:pPr>
              <a:defRPr sz="1800"/>
            </a:pPr>
            <a:r>
              <a:t>The science shouldn't depend on which vendor you choose."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# VIDEO 8 SLIDES: Contributing &amp; Community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JOIN THE COMMUNITY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Contributing to Universal Biomedical Skills</a:t>
            </a:r>
          </a:p>
          <a:p>
            <a:pPr>
              <a:defRPr sz="1800"/>
            </a:pPr>
            <a:r>
              <a:t>[COMMUNITY ICON: Multiple people]</a:t>
            </a:r>
          </a:p>
          <a:p>
            <a:pPr>
              <a:defRPr sz="1800"/>
            </a:pPr>
            <a:r>
              <a:t>Video 8 of 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WHY CONTRIBUTE?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[THREE COLUMNS]</a:t>
            </a:r>
          </a:p>
          <a:p>
            <a:pPr>
              <a:defRPr sz="1800"/>
            </a:pPr>
            <a:r>
              <a:t>FOR RESEARCHERS          FOR DEVELOPERS         FOR INSTITUTIONS</a:t>
            </a:r>
          </a:p>
          <a:p>
            <a:pPr>
              <a:defRPr sz="1800"/>
            </a:pPr>
            <a:r>
              <a:t>─────────────────        ──────────────         ─────────────────</a:t>
            </a:r>
          </a:p>
          <a:p>
            <a:pPr>
              <a:defRPr sz="1800"/>
            </a:pPr>
            <a:r>
              <a:t>Share your             • Work with            • Reduce redundant</a:t>
            </a:r>
          </a:p>
          <a:p>
            <a:pPr>
              <a:defRPr sz="1800"/>
            </a:pPr>
            <a:r>
              <a:t>analysis workflows       cutting-edge LLM       development</a:t>
            </a:r>
          </a:p>
          <a:p>
            <a:pPr>
              <a:defRPr sz="1800"/>
            </a:pPr>
            <a:r>
              <a:t>integration</a:t>
            </a:r>
          </a:p>
          <a:p>
            <a:pPr>
              <a:defRPr sz="1800"/>
            </a:pPr>
            <a:r>
              <a:t>Benefit from                                  • Establish open</a:t>
            </a:r>
          </a:p>
          <a:p>
            <a:pPr>
              <a:defRPr sz="1800"/>
            </a:pPr>
            <a:r>
              <a:t>community fixes        • Build portfolio        science leadership</a:t>
            </a:r>
          </a:p>
          <a:p>
            <a:pPr>
              <a:defRPr sz="1800"/>
            </a:pPr>
            <a:r>
              <a:t>projects</a:t>
            </a:r>
          </a:p>
          <a:p>
            <a:pPr>
              <a:defRPr sz="1800"/>
            </a:pPr>
            <a:r>
              <a:t>Build reputation                              • Influence</a:t>
            </a:r>
          </a:p>
          <a:p>
            <a:pPr>
              <a:defRPr sz="1800"/>
            </a:pPr>
            <a:r>
              <a:t>Learn multi-           standards</a:t>
            </a:r>
          </a:p>
          <a:p>
            <a:pPr>
              <a:defRPr sz="1800"/>
            </a:pPr>
            <a:r>
              <a:t>platform skills</a:t>
            </a:r>
          </a:p>
          <a:p>
            <a:pPr>
              <a:defRPr sz="1800"/>
            </a:pPr>
            <a:r>
              <a:t>[HEART ICON] Every contribution moves the field forward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CONTRIBUTION WORKFLOW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[6-STEP PROCESS]</a:t>
            </a:r>
          </a:p>
          <a:p>
            <a:pPr>
              <a:defRPr sz="1800"/>
            </a:pPr>
            <a:r>
              <a:t>1. FORK          → Create your copy on GitHub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2. CLONE         → git clone [your-fork-url]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3. BRANCH        → git checkout -b feature/my-skill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4. DEVELOP       → Make your changes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5. COMMIT        → git commit -m "Add: description"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6. PULL REQUEST  → Open PR on GitHub</a:t>
            </a:r>
          </a:p>
          <a:p>
            <a:pPr>
              <a:defRPr sz="1800"/>
            </a:pPr>
            <a:r>
              <a:t>[TIMELINE ARROW SHOWING FLOW]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a New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ADDING A NEW SKILL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[STEP-BY-STEP]</a:t>
            </a:r>
          </a:p>
          <a:p>
            <a:pPr>
              <a:defRPr sz="1800"/>
            </a:pPr>
            <a:r>
              <a:t>STEP 1: Copy Template</a:t>
            </a:r>
          </a:p>
          <a:p>
            <a:pPr>
              <a:defRPr sz="1800"/>
            </a:pPr>
            <a:r>
              <a:t>cp examples/template.yaml Skills/Domain/my_skill.yaml</a:t>
            </a:r>
          </a:p>
          <a:p>
            <a:pPr>
              <a:defRPr sz="1800"/>
            </a:pPr>
            <a:r>
              <a:t>STEP 2: Define Metadata</a:t>
            </a:r>
          </a:p>
          <a:p>
            <a:pPr>
              <a:defRPr sz="1800"/>
            </a:pPr>
            <a:r>
              <a:t>skill:</a:t>
            </a:r>
          </a:p>
          <a:p>
            <a:pPr>
              <a:defRPr sz="1800"/>
            </a:pPr>
            <a:r>
              <a:t>id: my-skill-id</a:t>
            </a:r>
          </a:p>
          <a:p>
            <a:pPr>
              <a:defRPr sz="1800"/>
            </a:pPr>
            <a:r>
              <a:t>name: "My Skill Name"</a:t>
            </a:r>
          </a:p>
          <a:p>
            <a:pPr>
              <a:defRPr sz="1800"/>
            </a:pPr>
            <a:r>
              <a:t>domain: genomics</a:t>
            </a:r>
          </a:p>
          <a:p>
            <a:pPr>
              <a:defRPr sz="1800"/>
            </a:pPr>
            <a:r>
              <a:t>STEP 3: Write Capabilities</a:t>
            </a:r>
          </a:p>
          <a:p>
            <a:pPr>
              <a:defRPr sz="1800"/>
            </a:pPr>
            <a:r>
              <a:t>capabilities:</a:t>
            </a:r>
          </a:p>
          <a:p>
            <a:pPr>
              <a:defRPr sz="1800"/>
            </a:pPr>
            <a:r>
              <a:t>name: main_function</a:t>
            </a:r>
          </a:p>
          <a:p>
            <a:pPr>
              <a:defRPr sz="1800"/>
            </a:pPr>
            <a:r>
              <a:t>inputs: [...]</a:t>
            </a:r>
          </a:p>
          <a:p>
            <a:pPr>
              <a:defRPr sz="1800"/>
            </a:pPr>
            <a:r>
              <a:t>outputs: [...]</a:t>
            </a:r>
          </a:p>
          <a:p>
            <a:pPr>
              <a:defRPr sz="1800"/>
            </a:pPr>
            <a:r>
              <a:t>STEP 4: Create Prompts</a:t>
            </a:r>
          </a:p>
          <a:p>
            <a:pPr>
              <a:defRPr sz="1800"/>
            </a:pPr>
            <a:r>
              <a:t>prompts:</a:t>
            </a:r>
          </a:p>
          <a:p>
            <a:pPr>
              <a:defRPr sz="1800"/>
            </a:pPr>
            <a:r>
              <a:t>system: "You are an expert in..."</a:t>
            </a:r>
          </a:p>
          <a:p>
            <a:pPr>
              <a:defRPr sz="1800"/>
            </a:pPr>
            <a:r>
              <a:t>STEP 5: Validate</a:t>
            </a:r>
          </a:p>
          <a:p>
            <a:pPr>
              <a:defRPr sz="1800"/>
            </a:pPr>
            <a:r>
              <a:t>python cli.py validate my_skill.yaml</a:t>
            </a:r>
          </a:p>
          <a:p>
            <a:pPr>
              <a:defRPr sz="1800"/>
            </a:pPr>
            <a:r>
              <a:t>[ROCKET] Ready to submit!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OTHER WAYS TO CONTRIBUTE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[GRID OF CONTRIBUTION TYPES]</a:t>
            </a:r>
          </a:p>
          <a:p>
            <a:pPr>
              <a:defRPr sz="1800"/>
            </a:pPr>
            <a:r>
              <a:t>┌────────────────┬────────────────┐</a:t>
            </a:r>
          </a:p>
          <a:p>
            <a:pPr>
              <a:defRPr sz="1800"/>
            </a:pPr>
            <a:r>
              <a:t>│ DOCUMENTATION  │   BUG REPORTS  │</a:t>
            </a:r>
          </a:p>
          <a:p>
            <a:pPr>
              <a:defRPr sz="1800"/>
            </a:pPr>
            <a:r>
              <a:t>│  [Book Icon]   │   [Bug Icon]   │</a:t>
            </a:r>
          </a:p>
          <a:p>
            <a:pPr>
              <a:defRPr sz="1800"/>
            </a:pPr>
            <a:r>
              <a:t>│ Improve READMEs│ Report issues  │</a:t>
            </a:r>
          </a:p>
          <a:p>
            <a:pPr>
              <a:defRPr sz="1800"/>
            </a:pPr>
            <a:r>
              <a:t>│ Add tutorials  │ with details   │</a:t>
            </a:r>
          </a:p>
          <a:p>
            <a:pPr>
              <a:defRPr sz="1800"/>
            </a:pPr>
            <a:r>
              <a:t>├────────────────┼────────────────┤</a:t>
            </a:r>
          </a:p>
          <a:p>
            <a:pPr>
              <a:defRPr sz="1800"/>
            </a:pPr>
            <a:r>
              <a:t>│     CODE       │    TESTING     │</a:t>
            </a:r>
          </a:p>
          <a:p>
            <a:pPr>
              <a:defRPr sz="1800"/>
            </a:pPr>
            <a:r>
              <a:t>│ [Code Icon]    │ [Test Icon]    │</a:t>
            </a:r>
          </a:p>
          <a:p>
            <a:pPr>
              <a:defRPr sz="1800"/>
            </a:pPr>
            <a:r>
              <a:t>│ New adapters   │ Validate skills│</a:t>
            </a:r>
          </a:p>
          <a:p>
            <a:pPr>
              <a:defRPr sz="1800"/>
            </a:pPr>
            <a:r>
              <a:t>│ BioKernel perf │ on platforms   │</a:t>
            </a:r>
          </a:p>
          <a:p>
            <a:pPr>
              <a:defRPr sz="1800"/>
            </a:pPr>
            <a:r>
              <a:t>├────────────────┼────────────────┤</a:t>
            </a:r>
          </a:p>
          <a:p>
            <a:pPr>
              <a:defRPr sz="1800"/>
            </a:pPr>
            <a:r>
              <a:t>│    IDEAS       │    OUTREACH    │</a:t>
            </a:r>
          </a:p>
          <a:p>
            <a:pPr>
              <a:defRPr sz="1800"/>
            </a:pPr>
            <a:r>
              <a:t>│ [Bulb Icon]    │ [Share Icon]   │</a:t>
            </a:r>
          </a:p>
          <a:p>
            <a:pPr>
              <a:defRPr sz="1800"/>
            </a:pPr>
            <a:r>
              <a:t>│ Feature reqs   │ Share project  │</a:t>
            </a:r>
          </a:p>
          <a:p>
            <a:pPr>
              <a:defRPr sz="1800"/>
            </a:pPr>
            <a:r>
              <a:t>│ Use cases      │ Write blogs    │</a:t>
            </a:r>
          </a:p>
          <a:p>
            <a:pPr>
              <a:defRPr sz="1800"/>
            </a:pPr>
            <a:r>
              <a:t>└────────────────┴────────────────┘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COMMUNITY RESOURCES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[LINKS WITH ICONS]</a:t>
            </a:r>
          </a:p>
          <a:p>
            <a:pPr>
              <a:defRPr sz="1800"/>
            </a:pPr>
            <a:r>
              <a:t>GitHub Discussions        → Questions &amp; Ideas</a:t>
            </a:r>
          </a:p>
          <a:p>
            <a:pPr>
              <a:defRPr sz="1800"/>
            </a:pPr>
            <a:r>
              <a:t>github.com/.../discussions</a:t>
            </a:r>
          </a:p>
          <a:p>
            <a:pPr>
              <a:defRPr sz="1800"/>
            </a:pPr>
            <a:r>
              <a:t>GitHub Issues             → Bugs &amp; Features</a:t>
            </a:r>
          </a:p>
          <a:p>
            <a:pPr>
              <a:defRPr sz="1800"/>
            </a:pPr>
            <a:r>
              <a:t>github.com/.../issues</a:t>
            </a:r>
          </a:p>
          <a:p>
            <a:pPr>
              <a:defRPr sz="1800"/>
            </a:pPr>
            <a:r>
              <a:t>Project Roadmap           → What's Coming</a:t>
            </a:r>
          </a:p>
          <a:p>
            <a:pPr>
              <a:defRPr sz="1800"/>
            </a:pPr>
            <a:r>
              <a:t>github.com/.../projects</a:t>
            </a:r>
          </a:p>
          <a:p>
            <a:pPr>
              <a:defRPr sz="1800"/>
            </a:pPr>
            <a:r>
              <a:t>Code of Conduct          → Community Guidelines</a:t>
            </a:r>
          </a:p>
          <a:p>
            <a:pPr>
              <a:defRPr sz="1800"/>
            </a:pPr>
            <a:r>
              <a:t>CONTRIBUTING.md</a:t>
            </a:r>
          </a:p>
          <a:p>
            <a:pPr>
              <a:defRPr sz="1800"/>
            </a:pPr>
            <a:r>
              <a:t>[QR CODE: Repository URL]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YOUR NEXT STEPS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[CHECKLIST WITH STARS]</a:t>
            </a:r>
          </a:p>
          <a:p>
            <a:pPr>
              <a:defRPr sz="1800"/>
            </a:pPr>
            <a:r>
              <a:t>★ STAR the repository</a:t>
            </a:r>
          </a:p>
          <a:p>
            <a:pPr>
              <a:defRPr sz="1800"/>
            </a:pPr>
            <a:r>
              <a:t>Helps others discover the project</a:t>
            </a:r>
          </a:p>
          <a:p>
            <a:pPr>
              <a:defRPr sz="1800"/>
            </a:pPr>
            <a:r>
              <a:t>★ TRY the demo</a:t>
            </a:r>
          </a:p>
          <a:p>
            <a:pPr>
              <a:defRPr sz="1800"/>
            </a:pPr>
            <a:r>
              <a:t>With your own data</a:t>
            </a:r>
          </a:p>
          <a:p>
            <a:pPr>
              <a:defRPr sz="1800"/>
            </a:pPr>
            <a:r>
              <a:t>★ SHARE with colleagues</a:t>
            </a:r>
          </a:p>
          <a:p>
            <a:pPr>
              <a:defRPr sz="1800"/>
            </a:pPr>
            <a:r>
              <a:t>Who might benefit</a:t>
            </a:r>
          </a:p>
          <a:p>
            <a:pPr>
              <a:defRPr sz="1800"/>
            </a:pPr>
            <a:r>
              <a:t>★ CONTRIBUTE a skill</a:t>
            </a:r>
          </a:p>
          <a:p>
            <a:pPr>
              <a:defRPr sz="1800"/>
            </a:pPr>
            <a:r>
              <a:t>From your domain</a:t>
            </a:r>
          </a:p>
          <a:p>
            <a:pPr>
              <a:defRPr sz="1800"/>
            </a:pPr>
            <a:r>
              <a:t>[GITHUB URL LARGE]</a:t>
            </a:r>
          </a:p>
          <a:p>
            <a:pPr>
              <a:defRPr sz="1800"/>
            </a:pPr>
            <a:r>
              <a:t>github.com/mdbabumiamssm/Universal-Life-Science-and-Clinical-Skills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THANK YOU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[CENTERED]</a:t>
            </a:r>
          </a:p>
          <a:p>
            <a:pPr>
              <a:defRPr sz="1800"/>
            </a:pPr>
            <a:r>
              <a:t>Universal Biomedical Skills Platform</a:t>
            </a:r>
          </a:p>
          <a:p>
            <a:pPr>
              <a:defRPr sz="1800"/>
            </a:pPr>
            <a:r>
              <a:t>Making biomedical AI accessible to everyone,</a:t>
            </a:r>
          </a:p>
          <a:p>
            <a:pPr>
              <a:defRPr sz="1800"/>
            </a:pPr>
            <a:r>
              <a:t>regardless of platform choice.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[Your Name]</a:t>
            </a:r>
          </a:p>
          <a:p>
            <a:pPr>
              <a:defRPr sz="1800"/>
            </a:pPr>
            <a:r>
              <a:t>[Institution]</a:t>
            </a:r>
          </a:p>
          <a:p>
            <a:pPr>
              <a:defRPr sz="1800"/>
            </a:pPr>
            <a:r>
              <a:t>[Contact Info]</a:t>
            </a:r>
          </a:p>
          <a:p>
            <a:pPr>
              <a:defRPr sz="1800"/>
            </a:pPr>
            <a:r>
              <a:t>[GITHUB LOGO]  [LINKEDIN LOGO]  [EMAIL ICON]</a:t>
            </a:r>
          </a:p>
          <a:p>
            <a:pPr>
              <a:defRPr sz="1800"/>
            </a:pPr>
            <a:r>
              <a:t>See you on GitHub!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Series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SERIES RECAP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[8 VIDEO THUMBNAILS IN GRID]</a:t>
            </a:r>
          </a:p>
          <a:p>
            <a:pPr>
              <a:defRPr sz="1800"/>
            </a:pPr>
            <a:r>
              <a:t>1. Introduction &amp; Vision</a:t>
            </a:r>
          </a:p>
          <a:p>
            <a:pPr>
              <a:defRPr sz="1800"/>
            </a:pPr>
            <a:r>
              <a:t>2. GitHub Repository Tour</a:t>
            </a:r>
          </a:p>
          <a:p>
            <a:pPr>
              <a:defRPr sz="1800"/>
            </a:pPr>
            <a:r>
              <a:t>3. Live Demo: scRNA-seq QC</a:t>
            </a:r>
          </a:p>
          <a:p>
            <a:pPr>
              <a:defRPr sz="1800"/>
            </a:pPr>
            <a:r>
              <a:t>4. USDL &amp; Platform Adapters</a:t>
            </a:r>
          </a:p>
          <a:p>
            <a:pPr>
              <a:defRPr sz="1800"/>
            </a:pPr>
            <a:r>
              <a:t>5. Platform Prototype SDK</a:t>
            </a:r>
          </a:p>
          <a:p>
            <a:pPr>
              <a:defRPr sz="1800"/>
            </a:pPr>
            <a:r>
              <a:t>6. Complete Skills Library</a:t>
            </a:r>
          </a:p>
          <a:p>
            <a:pPr>
              <a:defRPr sz="1800"/>
            </a:pPr>
            <a:r>
              <a:t>7. Research Paper</a:t>
            </a:r>
          </a:p>
          <a:p>
            <a:pPr>
              <a:defRPr sz="1800"/>
            </a:pPr>
            <a:r>
              <a:t>8. Contributing &amp; Community</a:t>
            </a:r>
          </a:p>
          <a:p>
            <a:pPr>
              <a:defRPr sz="1800"/>
            </a:pPr>
            <a:r>
              <a:t>[PLAYLIST LINK]</a:t>
            </a:r>
          </a:p>
          <a:p>
            <a:pPr>
              <a:defRPr sz="1800"/>
            </a:pPr>
            <a:r>
              <a:t>Watch all videos: [YouTube Playlist URL]</a:t>
            </a:r>
          </a:p>
          <a:p>
            <a:pPr>
              <a:defRPr sz="1800"/>
            </a:pPr>
            <a:r>
              <a:t>[SUBSCRIBE BUTTON]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# APPENDIX: VISUAL ASSETS NEEDED</a:t>
            </a:r>
          </a:p>
          <a:p>
            <a:pPr>
              <a:defRPr sz="1800"/>
            </a:pPr>
            <a:r>
              <a:t>## Icons to Create/Source</a:t>
            </a:r>
          </a:p>
          <a:p>
            <a:pPr>
              <a:defRPr sz="1800"/>
            </a:pPr>
            <a:r>
              <a:t>Platform logos (Claude, OpenAI, Gemini, Llama)</a:t>
            </a:r>
          </a:p>
          <a:p>
            <a:pPr>
              <a:defRPr sz="1800"/>
            </a:pPr>
            <a:r>
              <a:t>Domain icons (Clinical, Genomics, Drug Discovery)</a:t>
            </a:r>
          </a:p>
          <a:p>
            <a:pPr>
              <a:defRPr sz="1800"/>
            </a:pPr>
            <a:r>
              <a:t>Skill icons (6 unique icons)</a:t>
            </a:r>
          </a:p>
          <a:p>
            <a:pPr>
              <a:defRPr sz="1800"/>
            </a:pPr>
            <a:r>
              <a:t>Action icons (fork, clone, commit, etc.)</a:t>
            </a:r>
          </a:p>
          <a:p>
            <a:pPr>
              <a:defRPr sz="1800"/>
            </a:pPr>
            <a:r>
              <a:t>Contribution type icons</a:t>
            </a:r>
          </a:p>
          <a:p>
            <a:pPr>
              <a:defRPr sz="1800"/>
            </a:pPr>
            <a:r>
              <a:t>## Diagrams to Create</a:t>
            </a:r>
          </a:p>
          <a:p>
            <a:pPr>
              <a:defRPr sz="1800"/>
            </a:pPr>
            <a:r>
              <a:t>USDL architecture flow</a:t>
            </a:r>
          </a:p>
          <a:p>
            <a:pPr>
              <a:defRPr sz="1800"/>
            </a:pPr>
            <a:r>
              <a:t>Adapter conversion diagram</a:t>
            </a:r>
          </a:p>
          <a:p>
            <a:pPr>
              <a:defRPr sz="1800"/>
            </a:pPr>
            <a:r>
              <a:t>BioKernel routing flowchart</a:t>
            </a:r>
          </a:p>
          <a:p>
            <a:pPr>
              <a:defRPr sz="1800"/>
            </a:pPr>
            <a:r>
              <a:t>Skill pipeline visualizations</a:t>
            </a:r>
          </a:p>
          <a:p>
            <a:pPr>
              <a:defRPr sz="1800"/>
            </a:pPr>
            <a:r>
              <a:t>## Screenshots to Capture</a:t>
            </a:r>
          </a:p>
          <a:p>
            <a:pPr>
              <a:defRPr sz="1800"/>
            </a:pPr>
            <a:r>
              <a:t>GitHub repository main page</a:t>
            </a:r>
          </a:p>
          <a:p>
            <a:pPr>
              <a:defRPr sz="1800"/>
            </a:pPr>
            <a:r>
              <a:t>Terminal running demos</a:t>
            </a:r>
          </a:p>
          <a:p>
            <a:pPr>
              <a:defRPr sz="1800"/>
            </a:pPr>
            <a:r>
              <a:t>Claude/GPT interfaces</a:t>
            </a:r>
          </a:p>
          <a:p>
            <a:pPr>
              <a:defRPr sz="1800"/>
            </a:pPr>
            <a:r>
              <a:t>QC result plots</a:t>
            </a:r>
          </a:p>
          <a:p>
            <a:pPr>
              <a:defRPr sz="1800"/>
            </a:pPr>
            <a:r>
              <a:t>VS Code with YAML files</a:t>
            </a:r>
          </a:p>
          <a:p>
            <a:pPr>
              <a:defRPr sz="1800"/>
            </a:pPr>
            <a:r>
              <a:t>## Charts to Generate</a:t>
            </a:r>
          </a:p>
          <a:p>
            <a:pPr>
              <a:defRPr sz="1800"/>
            </a:pPr>
            <a:r>
              <a:t>Cross-platform accuracy comparison</a:t>
            </a:r>
          </a:p>
          <a:p>
            <a:pPr>
              <a:defRPr sz="1800"/>
            </a:pPr>
            <a:r>
              <a:t>Performance benchmarks</a:t>
            </a:r>
          </a:p>
          <a:p>
            <a:pPr>
              <a:defRPr sz="1800"/>
            </a:pPr>
            <a:r>
              <a:t>Skills coverage by domain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**END OF PRESENTATION SLIDES**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