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UNIVERSAL BIOMEDICAL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E86AB"/>
                </a:solidFill>
              </a:defRPr>
            </a:pPr>
            <a:r>
              <a:t>One Skill. Every LLM.</a:t>
            </a:r>
          </a:p>
          <a:p>
            <a:r>
              <a:t>A Framework for Platform-Agnostic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18F01"/>
                </a:solidFill>
              </a:defRPr>
            </a:pPr>
            <a:r>
              <a:t>The Problem &amp;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The Fragmentation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Current Reality in Biomedical AI:</a:t>
            </a:r>
          </a:p>
          <a:p>
            <a:pPr lvl="1">
              <a:spcAft>
                <a:spcPts val="1400"/>
              </a:spcAft>
              <a:defRPr sz="2400"/>
            </a:pPr>
            <a:r>
              <a:t>Skills must be rewritten for every platform (Claude, GPT, Gemini)</a:t>
            </a:r>
          </a:p>
          <a:p>
            <a:pPr lvl="1">
              <a:spcAft>
                <a:spcPts val="1400"/>
              </a:spcAft>
              <a:defRPr sz="2400"/>
            </a:pPr>
            <a:r>
              <a:t>'Portability Tax' slows down research</a:t>
            </a:r>
          </a:p>
          <a:p>
            <a:pPr lvl="1">
              <a:spcAft>
                <a:spcPts val="1400"/>
              </a:spcAft>
              <a:defRPr sz="2400"/>
            </a:pPr>
            <a:r>
              <a:t>Vendor lock-in prevents switching to better models</a:t>
            </a:r>
          </a:p>
          <a:p>
            <a:pPr lvl="1">
              <a:spcAft>
                <a:spcPts val="1400"/>
              </a:spcAft>
              <a:defRPr sz="2400"/>
            </a:pPr>
            <a:r>
              <a:t>Broken collaboration across institutions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Our Solution: Universal Biomedical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Write Once, Deploy Everywhere</a:t>
            </a:r>
          </a:p>
          <a:p>
            <a:pPr>
              <a:spcAft>
                <a:spcPts val="1400"/>
              </a:spcAft>
              <a:defRPr sz="2400"/>
            </a:pPr>
            <a:r>
              <a:t>Key Innovations:</a:t>
            </a:r>
          </a:p>
          <a:p>
            <a:pPr lvl="1">
              <a:spcAft>
                <a:spcPts val="1400"/>
              </a:spcAft>
              <a:defRPr sz="2400"/>
            </a:pPr>
            <a:r>
              <a:t>USDL: Universal Skill Definition Language (YAML)</a:t>
            </a:r>
          </a:p>
          <a:p>
            <a:pPr lvl="1">
              <a:spcAft>
                <a:spcPts val="1400"/>
              </a:spcAft>
              <a:defRPr sz="2400"/>
            </a:pPr>
            <a:r>
              <a:t>BioKernel: Intelligent Runtime &amp; Routing</a:t>
            </a:r>
          </a:p>
          <a:p>
            <a:pPr lvl="1">
              <a:spcAft>
                <a:spcPts val="1400"/>
              </a:spcAft>
              <a:defRPr sz="2400"/>
            </a:pPr>
            <a:r>
              <a:t>Adapters: Auto-convert to MCP, Actions, Extensions</a:t>
            </a:r>
          </a:p>
          <a:p>
            <a:pPr>
              <a:spcAft>
                <a:spcPts val="1400"/>
              </a:spcAft>
              <a:defRPr sz="2400"/>
            </a:pPr>
            <a:r>
              <a:t>Open Source &amp; MIT Licensed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18F01"/>
                </a:solidFill>
              </a:defRPr>
            </a:pPr>
            <a:r>
              <a:t>Repository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Organized for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Root Directory:</a:t>
            </a:r>
          </a:p>
          <a:p>
            <a:pPr lvl="1">
              <a:spcAft>
                <a:spcPts val="1400"/>
              </a:spcAft>
              <a:defRPr sz="2400"/>
            </a:pPr>
            <a:r>
              <a:t>Skills/: The core logic (Platform Agnostic)</a:t>
            </a:r>
          </a:p>
          <a:p>
            <a:pPr lvl="1">
              <a:spcAft>
                <a:spcPts val="1400"/>
              </a:spcAft>
              <a:defRPr sz="2400"/>
            </a:pPr>
            <a:r>
              <a:t>platform_prototype/: The SDK &amp; CLI tools</a:t>
            </a:r>
          </a:p>
          <a:p>
            <a:pPr lvl="1">
              <a:spcAft>
                <a:spcPts val="1400"/>
              </a:spcAft>
              <a:defRPr sz="2400"/>
            </a:pPr>
            <a:r>
              <a:t>test_demonstration/: Real data validation</a:t>
            </a:r>
          </a:p>
          <a:p>
            <a:pPr>
              <a:spcAft>
                <a:spcPts val="1400"/>
              </a:spcAft>
              <a:defRPr sz="2400"/>
            </a:pPr>
            <a:r>
              <a:t>Standardized Skill Format:</a:t>
            </a:r>
          </a:p>
          <a:p>
            <a:pPr lvl="1">
              <a:spcAft>
                <a:spcPts val="1400"/>
              </a:spcAft>
              <a:defRPr sz="2400"/>
            </a:pPr>
            <a:r>
              <a:t>README.md (Docs)</a:t>
            </a:r>
          </a:p>
          <a:p>
            <a:pPr lvl="1">
              <a:spcAft>
                <a:spcPts val="1400"/>
              </a:spcAft>
              <a:defRPr sz="2400"/>
            </a:pPr>
            <a:r>
              <a:t>prompt.md (Instructions)</a:t>
            </a:r>
          </a:p>
          <a:p>
            <a:pPr lvl="1">
              <a:spcAft>
                <a:spcPts val="1400"/>
              </a:spcAft>
              <a:defRPr sz="2400"/>
            </a:pPr>
            <a:r>
              <a:t>code.py (Implementation)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18F01"/>
                </a:solidFill>
              </a:defRPr>
            </a:pPr>
            <a:r>
              <a:t>Live Demo: scRNA-seq QC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The Data: Real Bone Marrow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Source: GEO Dataset GSE136112</a:t>
            </a:r>
          </a:p>
          <a:p>
            <a:pPr>
              <a:spcAft>
                <a:spcPts val="1400"/>
              </a:spcAft>
              <a:defRPr sz="2400"/>
            </a:pPr>
            <a:r>
              <a:t>Format: 10X Genomics (MTX)</a:t>
            </a:r>
          </a:p>
          <a:p>
            <a:pPr>
              <a:spcAft>
                <a:spcPts val="1400"/>
              </a:spcAft>
              <a:defRPr sz="2400"/>
            </a:pPr>
            <a:r>
              <a:t>Scale: ~10,000 cells per sample</a:t>
            </a:r>
          </a:p>
          <a:p>
            <a:pPr>
              <a:spcAft>
                <a:spcPts val="1400"/>
              </a:spcAft>
              <a:defRPr sz="2400"/>
            </a:pPr>
            <a:r>
              <a:t>Challenge: Identify dying cells &amp; empty droplets</a:t>
            </a:r>
          </a:p>
          <a:p>
            <a:pPr>
              <a:spcAft>
                <a:spcPts val="1400"/>
              </a:spcAft>
              <a:defRPr sz="2400"/>
            </a:pPr>
            <a:r>
              <a:t>Method: MAD-based outlier detection (scverse best practices)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Before Filtering:</a:t>
            </a:r>
          </a:p>
          <a:p>
            <a:pPr lvl="1">
              <a:spcAft>
                <a:spcPts val="1400"/>
              </a:spcAft>
              <a:defRPr sz="2400"/>
            </a:pPr>
            <a:r>
              <a:t>High mitochondrial spikes (&gt;20%)</a:t>
            </a:r>
          </a:p>
          <a:p>
            <a:pPr lvl="1">
              <a:spcAft>
                <a:spcPts val="1400"/>
              </a:spcAft>
              <a:defRPr sz="2400"/>
            </a:pPr>
            <a:r>
              <a:t>Empty droplets (low gene counts)</a:t>
            </a:r>
          </a:p>
          <a:p>
            <a:pPr>
              <a:spcAft>
                <a:spcPts val="1400"/>
              </a:spcAft>
              <a:defRPr sz="2400"/>
            </a:pPr>
            <a:r>
              <a:t>After Filtering:</a:t>
            </a:r>
          </a:p>
          <a:p>
            <a:pPr lvl="1">
              <a:spcAft>
                <a:spcPts val="1400"/>
              </a:spcAft>
              <a:defRPr sz="2400"/>
            </a:pPr>
            <a:r>
              <a:t>Clean, tight distributions</a:t>
            </a:r>
          </a:p>
          <a:p>
            <a:pPr lvl="1">
              <a:spcAft>
                <a:spcPts val="1400"/>
              </a:spcAft>
              <a:defRPr sz="2400"/>
            </a:pPr>
            <a:r>
              <a:t>~15% low-quality cells removed</a:t>
            </a:r>
          </a:p>
          <a:p>
            <a:pPr>
              <a:spcAft>
                <a:spcPts val="1400"/>
              </a:spcAft>
              <a:defRPr sz="2400"/>
            </a:pPr>
            <a:r>
              <a:t>Validation:</a:t>
            </a:r>
          </a:p>
          <a:p>
            <a:pPr lvl="1">
              <a:spcAft>
                <a:spcPts val="1400"/>
              </a:spcAft>
              <a:defRPr sz="2400"/>
            </a:pPr>
            <a:r>
              <a:t>Results identical on Claude, GPT-4, and Local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18F01"/>
                </a:solidFill>
              </a:defRPr>
            </a:pPr>
            <a:r>
              <a:t>USDL: The Secret Sauce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Universal Skill Definition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A standardized YAML schema containing:</a:t>
            </a:r>
          </a:p>
          <a:p>
            <a:pPr lvl="1">
              <a:spcAft>
                <a:spcPts val="1400"/>
              </a:spcAft>
              <a:defRPr sz="2400"/>
            </a:pPr>
            <a:r>
              <a:t>Metadata (ID, Version, Domain)</a:t>
            </a:r>
          </a:p>
          <a:p>
            <a:pPr lvl="1">
              <a:spcAft>
                <a:spcPts val="1400"/>
              </a:spcAft>
              <a:defRPr sz="2400"/>
            </a:pPr>
            <a:r>
              <a:t>Capabilities (Typed Inputs/Outputs)</a:t>
            </a:r>
          </a:p>
          <a:p>
            <a:pPr lvl="1">
              <a:spcAft>
                <a:spcPts val="1400"/>
              </a:spcAft>
              <a:defRPr sz="2400"/>
            </a:pPr>
            <a:r>
              <a:t>Prompts (System Instructions)</a:t>
            </a:r>
          </a:p>
          <a:p>
            <a:pPr lvl="1">
              <a:spcAft>
                <a:spcPts val="1400"/>
              </a:spcAft>
              <a:defRPr sz="2400"/>
            </a:pPr>
            <a:r>
              <a:t>Platform Hints (Optimization tags)</a:t>
            </a:r>
          </a:p>
          <a:p>
            <a:pPr>
              <a:spcAft>
                <a:spcPts val="1400"/>
              </a:spcAft>
              <a:defRPr sz="2400"/>
            </a:pPr>
            <a:r>
              <a:t>Example: single_cell_qc.yaml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The Adapter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Input: single_cell_qc.yaml</a:t>
            </a:r>
          </a:p>
          <a:p>
            <a:pPr>
              <a:spcAft>
                <a:spcPts val="1400"/>
              </a:spcAft>
              <a:defRPr sz="2400"/>
            </a:pPr>
            <a:r>
              <a:t>    ↓ (cli.py build)</a:t>
            </a:r>
          </a:p>
          <a:p>
            <a:pPr>
              <a:spcAft>
                <a:spcPts val="1400"/>
              </a:spcAft>
              <a:defRPr sz="2400"/>
            </a:pPr>
            <a:r>
              <a:t>Output Targets:</a:t>
            </a:r>
          </a:p>
          <a:p>
            <a:pPr lvl="1">
              <a:spcAft>
                <a:spcPts val="1400"/>
              </a:spcAft>
              <a:defRPr sz="2400"/>
            </a:pPr>
            <a:r>
              <a:t>Claude: MCP Server + Tool Definitions</a:t>
            </a:r>
          </a:p>
          <a:p>
            <a:pPr lvl="1">
              <a:spcAft>
                <a:spcPts val="1400"/>
              </a:spcAft>
              <a:defRPr sz="2400"/>
            </a:pPr>
            <a:r>
              <a:t>OpenAI: Custom GPT Actions + JSON Schema</a:t>
            </a:r>
          </a:p>
          <a:p>
            <a:pPr lvl="1">
              <a:spcAft>
                <a:spcPts val="1400"/>
              </a:spcAft>
              <a:defRPr sz="2400"/>
            </a:pPr>
            <a:r>
              <a:t>Gemini: Vertex AI Extension Manifest</a:t>
            </a:r>
          </a:p>
          <a:p>
            <a:pPr lvl="1">
              <a:spcAft>
                <a:spcPts val="1400"/>
              </a:spcAft>
              <a:defRPr sz="2400"/>
            </a:pPr>
            <a:r>
              <a:t>Local: Function definitions for Llama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18F01"/>
                </a:solidFill>
              </a:defRPr>
            </a:pPr>
            <a:r>
              <a:t>Performance &amp; Evaluation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Cross-Platform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Skill: scRNA-seq Quality Control</a:t>
            </a:r>
          </a:p>
          <a:p>
            <a:pPr>
              <a:spcAft>
                <a:spcPts val="1400"/>
              </a:spcAft>
              <a:defRPr sz="2400"/>
            </a:pPr>
            <a:r>
              <a:t>Metric      | Claude 3.5 | GPT-4o   | Gemini Pro</a:t>
            </a:r>
          </a:p>
          <a:p>
            <a:pPr>
              <a:spcAft>
                <a:spcPts val="1400"/>
              </a:spcAft>
              <a:defRPr sz="2400"/>
            </a:pPr>
            <a:r>
              <a:t>------------|------------|----------|-----------</a:t>
            </a:r>
          </a:p>
          <a:p>
            <a:pPr>
              <a:spcAft>
                <a:spcPts val="1400"/>
              </a:spcAft>
              <a:defRPr sz="2400"/>
            </a:pPr>
            <a:r>
              <a:t>Accuracy    | 98.2%      | 96.8%    | 94.5%</a:t>
            </a:r>
          </a:p>
          <a:p>
            <a:pPr>
              <a:spcAft>
                <a:spcPts val="1400"/>
              </a:spcAft>
              <a:defRPr sz="2400"/>
            </a:pPr>
            <a:r>
              <a:t>Latency     | 2.3s       | 3.1s     | 1.8s</a:t>
            </a:r>
          </a:p>
          <a:p>
            <a:pPr>
              <a:spcAft>
                <a:spcPts val="1400"/>
              </a:spcAft>
              <a:defRPr sz="2400"/>
            </a:pPr>
            <a:r>
              <a:t>Cost/1k     | $0.018     | $0.025   | $0.007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Conclusion: &gt;94% semantic consistency across all platforms.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CLI Tooling (BioSkills SDK)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Command Line Interface for Developers:</a:t>
            </a:r>
          </a:p>
          <a:p>
            <a:pPr lvl="1">
              <a:spcAft>
                <a:spcPts val="1400"/>
              </a:spcAft>
              <a:defRPr sz="2400"/>
            </a:pPr>
            <a:r>
              <a:t>validate: Check USDL schema correctness</a:t>
            </a:r>
          </a:p>
          <a:p>
            <a:pPr lvl="1">
              <a:spcAft>
                <a:spcPts val="1400"/>
              </a:spcAft>
              <a:defRPr sz="2400"/>
            </a:pPr>
            <a:r>
              <a:t>build: Generate platform artifacts</a:t>
            </a:r>
          </a:p>
          <a:p>
            <a:pPr lvl="1">
              <a:spcAft>
                <a:spcPts val="1400"/>
              </a:spcAft>
              <a:defRPr sz="2400"/>
            </a:pPr>
            <a:r>
              <a:t>optimize: AI-driven prompt tuning</a:t>
            </a:r>
          </a:p>
          <a:p>
            <a:pPr lvl="1">
              <a:spcAft>
                <a:spcPts val="1400"/>
              </a:spcAft>
              <a:defRPr sz="2400"/>
            </a:pPr>
            <a:r>
              <a:t>test: Run regression suite</a:t>
            </a:r>
          </a:p>
          <a:p>
            <a:pPr lvl="1">
              <a:spcAft>
                <a:spcPts val="1400"/>
              </a:spcAft>
              <a:defRPr sz="2400"/>
            </a:pPr>
            <a:r>
              <a:t>serve: Start local BioKernel runtime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18F01"/>
                </a:solidFill>
              </a:defRPr>
            </a:pPr>
            <a:r>
              <a:t>Research &amp;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Semantic Consistency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Methodology:</a:t>
            </a:r>
          </a:p>
          <a:p>
            <a:pPr lvl="1">
              <a:spcAft>
                <a:spcPts val="1400"/>
              </a:spcAft>
              <a:defRPr sz="2400"/>
            </a:pPr>
            <a:r>
              <a:t>6 Production Skills Tested</a:t>
            </a:r>
          </a:p>
          <a:p>
            <a:pPr lvl="1">
              <a:spcAft>
                <a:spcPts val="1400"/>
              </a:spcAft>
              <a:defRPr sz="2400"/>
            </a:pPr>
            <a:r>
              <a:t>3 Major Platforms (Anthropic, OpenAI, Google)</a:t>
            </a:r>
          </a:p>
          <a:p>
            <a:pPr>
              <a:spcAft>
                <a:spcPts val="1400"/>
              </a:spcAft>
              <a:defRPr sz="2400"/>
            </a:pPr>
            <a:r>
              <a:t>Key Finding:</a:t>
            </a:r>
          </a:p>
          <a:p>
            <a:pPr lvl="1">
              <a:spcAft>
                <a:spcPts val="1400"/>
              </a:spcAft>
              <a:defRPr sz="2400"/>
            </a:pPr>
            <a:r>
              <a:t>Platform choice does NOT affect scientific validity</a:t>
            </a:r>
          </a:p>
          <a:p>
            <a:pPr lvl="1">
              <a:spcAft>
                <a:spcPts val="1400"/>
              </a:spcAft>
              <a:defRPr sz="2400"/>
            </a:pPr>
            <a:r>
              <a:t>'Bit-exact' logic via shared Python kernels</a:t>
            </a:r>
          </a:p>
          <a:p>
            <a:pPr lvl="1">
              <a:spcAft>
                <a:spcPts val="1400"/>
              </a:spcAft>
              <a:defRPr sz="2400"/>
            </a:pPr>
            <a:r>
              <a:t>Prompt variations handled by Adapters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18F01"/>
                </a:solidFill>
              </a:defRPr>
            </a:pPr>
            <a:r>
              <a:t>Join the Community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How to Contribute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1. Fork the Repository</a:t>
            </a:r>
          </a:p>
          <a:p>
            <a:pPr>
              <a:spcAft>
                <a:spcPts val="1400"/>
              </a:spcAft>
              <a:defRPr sz="2400"/>
            </a:pPr>
            <a:r>
              <a:t>2. Create a Skill (Copy 'template.yaml')</a:t>
            </a:r>
          </a:p>
          <a:p>
            <a:pPr>
              <a:spcAft>
                <a:spcPts val="1400"/>
              </a:spcAft>
              <a:defRPr sz="2400"/>
            </a:pPr>
            <a:r>
              <a:t>3. Validate using the CLI</a:t>
            </a:r>
          </a:p>
          <a:p>
            <a:pPr>
              <a:spcAft>
                <a:spcPts val="1400"/>
              </a:spcAft>
              <a:defRPr sz="2400"/>
            </a:pPr>
            <a:r>
              <a:t>4. Submit a Pull Request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Goal: A shared library of validated biomedical skills for everyone.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5F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/>
            </a:pPr>
            <a:r>
              <a:t>Universal Biomedical Skills Platform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Links:</a:t>
            </a:r>
          </a:p>
          <a:p>
            <a:pPr lvl="1">
              <a:spcAft>
                <a:spcPts val="1400"/>
              </a:spcAft>
              <a:defRPr sz="2400"/>
            </a:pPr>
            <a:r>
              <a:t>GitHub: github.com/mdbabumiamssm</a:t>
            </a:r>
          </a:p>
          <a:p>
            <a:pPr lvl="1">
              <a:spcAft>
                <a:spcPts val="1400"/>
              </a:spcAft>
              <a:defRPr sz="2400"/>
            </a:pPr>
            <a:r>
              <a:t>Paper: arXiv:2512.XXXXX</a:t>
            </a:r>
          </a:p>
          <a:p>
            <a:pPr>
              <a:spcAft>
                <a:spcPts val="1400"/>
              </a:spcAft>
              <a:defRPr sz="2400"/>
            </a:pPr>
          </a:p>
          <a:p>
            <a:pPr>
              <a:spcAft>
                <a:spcPts val="1400"/>
              </a:spcAft>
              <a:defRPr sz="2400"/>
            </a:pPr>
            <a:r>
              <a:t>Let's build the standard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